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“Respected Professor and dear friends, good morning. I am Prasad Anil Kankhar from the Department of Computer Science and Engineering at Maharashtra Institute of Technology. Today, I am going to present on Speech to Text Conversion in Natural Language Processing. We will explore the complete scientific journey: from acoustic air pressure waves and digital signal processing, through classical HMM-GMMs and modern Conformer-Whisper transformers, to temporal alignment and language model decoding.”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“Speech to Text is the computational process of converting spoken audio waveforms into written text. While reading text is straightforward for computers, speech is fundamentally an analog, continuous physical wave with no clear spaces between words. Furthermore, every speaker has unique vocal tract anatomy, pitch, speaking speed, accent, and background noise. In this slide, we contrast the continuous nature of speech against the discrete nature of written text.”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“Speech begins in the lungs and vocal folds, creating a fundamental frequency F0. As air passes through the pharynx, oral, and nasal cavities, the vocal tract acts as a series of acoustic resonators called formants. To process this on computers, we convert analog sound to digital data using an Analog-to-Digital Converter. By the Nyquist-Shannon sampling theorem, we sample at 16,000 Hertz to capture up to 8,000 Hertz of sound, quantized with 16 bits per sample to yield 96 decibels of dynamic range.”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can recognize words, we must understand the fundamental units of speech sounds. A phone is an actual acoustic sound, while a phoneme is the smallest contrastive unit that distinguishes word meaning in a language. For standard American English, the ARPAbet defines 39 phonemes: 15 vowels and 24 consonants. Furthermore, human speech exhibits co-articulation: the pronunciation of a sound changes depending on the sounds before and after it because our vocal articulators move smoothly between targets.”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“Raw 16,000 Hertz waveforms have too much temporal variance to feed directly into classifiers. Instead, we extract spectral features. We chop the signal into 25 millisecond frames with 10 millisecond shifts and apply a Hamming window. We compute the Short-Time Fourier Transform to get the power spectrum. Because human ears hear pitch logarithmically, we pass the spectrum through triangular Mel filterbanks. Finally, a Discrete Cosine Transform outputs 39 Mel-Frequency Cepstral Coefficients, or MFCCs, representing vocal tract configuration, velocity, and acceleration.”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nearly three decades, ASR relied on Bayes’ Decision Rule implemented as three separate components: the Acoustic Model, the Pronunciation Lexicon, and the Language Model. Hidden Markov Models with Gaussian Mixture Models represented each phoneme with a 3-state left-to-right topology. The lexicon mapped phonemes to words, and N-gram models computed language priors. To find the best word sequence, the Viterbi algorithm decoded the path through a gigantic Weighted Finite-State Transducer.”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speech recognition, there is a fundamental timing mismatch: a 1-second audio clip produces 100 feature frames, but may only contain 3 words or 15 letters. How can a neural network be trained without manual frame-level phonetic alignments? In 2006, Alex Graves introduced Connectionist Temporal Classification, or CTC. CTC introduces a special blank symbol and a collapse function that removes consecutive duplicate characters and blanks, allowing networks to learn alignment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recent years, the entire classical multi-stage pipeline has been replaced by unified End-to-End deep neural networks. In Listen, Attend and Spell, sequence-to-sequence attention directly transcribed speech. For streaming on mobile devices, RNN-Transducers combine acoustic features with language predictions in real-time. Today, the state-of-the-art architecture is the Conformer, created by Google. The Conformer combines convolutions to capture local speech formants with multi-head self-attention to capture long-range linguistic context.”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2022, OpenAI released Whisper, transforming speech recognition from specialized narrow models into generalized foundation models. Trained on 680,000 hours of weakly supervised multilingual web audio, Whisper uses an Encoder-Decoder Transformer with 80-channel log-mel spectrogram input. Crucially, it controls tasks via special prompt tokens: specifying the target language, choosing between transcription and translation, and controlling timestamps. Together with self-supervised models like Meta’s Wav2Vec 2.0, Whisper achieves near-human robustness across background noise and diverse accents.”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highlights where Natural Language Processing directly powers speech recognition. First, during decoding, Beam Search fuses acoustic probabilities with an external NLP Language Model to disambiguate homophones—such as ‘recognize speech’ versus ‘wreck a nice beach’. Second, Large Language Models perform two-pass rescoring on the top-50 transcription candidates. Finally, NLP performs Inverse Text Normalization, converting spoken numbers into currencies and dates, and restores proper capitalization and punctuation.”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measure the accuracy of an ASR system, we calculate the Word Error Rate, or WER, via Levenshtein edit distance. WER equals substitutions plus deletions plus insertions divided by the total number of reference words. For latency, we compute the Real-Time Factor: the processing time divided by the audio length, which must be less than 1.0 for live streaming. In production, systems must overcome practical hurdles such as the Cocktail Party Effect, reverberation, and speaker diarization—answering ‘who spoke when’.”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summarize our journey: Speech to Text conversion transforms continuous acoustic air vibrations into discrete words through acoustic digitization, Mel feature extraction, deep neural modeling via Conformer or Whisper transformers, temporal CTC alignment, and language model beam search. The future of speech AI is now expanding into zero-shot multilingual translation across 1,000 languages, sub-50 millisecond edge neural accelerators, and paralinguistic emotion detection. Thank you so much for your attention, and I am happy to open the floor to any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1005840"/>
          </a:xfrm>
          <a:prstGeom prst="rect">
            <a:avLst/>
          </a:prstGeom>
          <a:noFill/>
        </p:spPr>
        <p:txBody>
          <a:bodyPr wrap="square" lIns="0" tIns="0" rIns="0" bIns="0">
            <a:spAutoFit/>
          </a:bodyPr>
          <a:lstStyle/>
          <a:p>
            <a:pPr>
              <a:defRPr sz="1000" b="1">
                <a:solidFill>
                  <a:srgbClr val="2563EB"/>
                </a:solidFill>
                <a:latin typeface="Calibri"/>
              </a:defRPr>
            </a:pPr>
            <a:r>
              <a:t>●  SLIDE 01 — TITLE &amp; ACADEMIC CREDENTIALS</a:t>
            </a:r>
          </a:p>
          <a:p>
            <a:pPr>
              <a:spcBef>
                <a:spcPts val="300"/>
              </a:spcBef>
              <a:defRPr sz="2200" b="1">
                <a:solidFill>
                  <a:srgbClr val="0F172A"/>
                </a:solidFill>
                <a:latin typeface="Calibri"/>
              </a:defRPr>
            </a:pPr>
            <a:r>
              <a:t>Speech to Text (STT) Conversion</a:t>
            </a:r>
          </a:p>
          <a:p>
            <a:pPr>
              <a:spcBef>
                <a:spcPts val="200"/>
              </a:spcBef>
              <a:defRPr sz="1100">
                <a:solidFill>
                  <a:srgbClr val="64748B"/>
                </a:solidFill>
                <a:latin typeface="Calibri"/>
              </a:defRPr>
            </a:pPr>
            <a:r>
              <a:t>Foundations, Acoustic Signal Processing, Deep Neural Architectures &amp; Decoding</a:t>
            </a:r>
          </a:p>
        </p:txBody>
      </p:sp>
      <p:sp>
        <p:nvSpPr>
          <p:cNvPr id="4" name="Rounded Rectangle 3"/>
          <p:cNvSpPr/>
          <p:nvPr/>
        </p:nvSpPr>
        <p:spPr>
          <a:xfrm>
            <a:off x="731520" y="1554480"/>
            <a:ext cx="5212080" cy="475488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737360"/>
            <a:ext cx="4663440" cy="4389120"/>
          </a:xfrm>
          <a:prstGeom prst="rect">
            <a:avLst/>
          </a:prstGeom>
          <a:noFill/>
        </p:spPr>
        <p:txBody>
          <a:bodyPr wrap="square">
            <a:spAutoFit/>
          </a:bodyPr>
          <a:lstStyle/>
          <a:p>
            <a:pPr>
              <a:defRPr sz="1000" b="1">
                <a:solidFill>
                  <a:srgbClr val="1E3A8A"/>
                </a:solidFill>
              </a:defRPr>
            </a:pPr>
            <a:r>
              <a:t>G.S. Mandal's Maharashtra Institute of Technology, Chhatrapati Sambhajinagar</a:t>
            </a:r>
          </a:p>
          <a:p>
            <a:pPr>
              <a:spcAft>
                <a:spcPts val="1200"/>
              </a:spcAft>
              <a:defRPr sz="1100" b="1">
                <a:solidFill>
                  <a:srgbClr val="2563EB"/>
                </a:solidFill>
              </a:defRPr>
            </a:pPr>
            <a:r>
              <a:t>Department of Computer Science and Engineering</a:t>
            </a:r>
          </a:p>
          <a:p>
            <a:pPr>
              <a:defRPr sz="2600" b="1">
                <a:solidFill>
                  <a:srgbClr val="0F172A"/>
                </a:solidFill>
              </a:defRPr>
            </a:pPr>
            <a:r>
              <a:t>Speech to Text (STT)</a:t>
            </a:r>
          </a:p>
          <a:p>
            <a:pPr>
              <a:spcAft>
                <a:spcPts val="1800"/>
              </a:spcAft>
              <a:defRPr sz="1200">
                <a:solidFill>
                  <a:srgbClr val="64748B"/>
                </a:solidFill>
              </a:defRPr>
            </a:pPr>
            <a:r>
              <a:t>Automatic Speech Recognition (ASR) in NLP</a:t>
            </a:r>
          </a:p>
          <a:p>
            <a:pPr>
              <a:spcBef>
                <a:spcPts val="400"/>
              </a:spcBef>
              <a:defRPr b="1" sz="1100">
                <a:solidFill>
                  <a:srgbClr val="64748B"/>
                </a:solidFill>
              </a:defRPr>
            </a:pPr>
            <a:r>
              <a:t>Course:  </a:t>
            </a:r>
            <a:r>
              <a:rPr b="0">
                <a:solidFill>
                  <a:srgbClr val="0F172A"/>
                </a:solidFill>
              </a:rPr>
              <a:t>Natural Language Processing (NLP / CSE402)</a:t>
            </a:r>
          </a:p>
          <a:p>
            <a:pPr>
              <a:spcBef>
                <a:spcPts val="400"/>
              </a:spcBef>
              <a:defRPr b="1" sz="1100">
                <a:solidFill>
                  <a:srgbClr val="64748B"/>
                </a:solidFill>
              </a:defRPr>
            </a:pPr>
            <a:r>
              <a:t>Academic Year:  </a:t>
            </a:r>
            <a:r>
              <a:rPr b="0">
                <a:solidFill>
                  <a:srgbClr val="0F172A"/>
                </a:solidFill>
              </a:rPr>
              <a:t>2026–27</a:t>
            </a:r>
          </a:p>
          <a:p>
            <a:pPr>
              <a:spcBef>
                <a:spcPts val="400"/>
              </a:spcBef>
              <a:defRPr b="1" sz="1100">
                <a:solidFill>
                  <a:srgbClr val="1E3A8A"/>
                </a:solidFill>
              </a:defRPr>
            </a:pPr>
            <a:r>
              <a:t>Presented by:  </a:t>
            </a:r>
            <a:r>
              <a:rPr b="1">
                <a:solidFill>
                  <a:srgbClr val="2563EB"/>
                </a:solidFill>
              </a:rPr>
              <a:t>Prasad Anil Kankhar</a:t>
            </a:r>
          </a:p>
          <a:p>
            <a:pPr>
              <a:spcBef>
                <a:spcPts val="400"/>
              </a:spcBef>
              <a:defRPr b="1" sz="1100">
                <a:solidFill>
                  <a:srgbClr val="64748B"/>
                </a:solidFill>
              </a:defRPr>
            </a:pPr>
            <a:r>
              <a:t>Class:  </a:t>
            </a:r>
            <a:r>
              <a:rPr b="0">
                <a:solidFill>
                  <a:srgbClr val="0F172A"/>
                </a:solidFill>
              </a:rPr>
              <a:t>B.Tech Computer Science and Engineering</a:t>
            </a:r>
          </a:p>
        </p:txBody>
      </p:sp>
      <p:sp>
        <p:nvSpPr>
          <p:cNvPr id="6" name="Rounded Rectangle 5"/>
          <p:cNvSpPr/>
          <p:nvPr/>
        </p:nvSpPr>
        <p:spPr>
          <a:xfrm>
            <a:off x="6217920" y="1554480"/>
            <a:ext cx="5242255" cy="47548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0" y="1737360"/>
            <a:ext cx="4693615" cy="4389120"/>
          </a:xfrm>
          <a:prstGeom prst="rect">
            <a:avLst/>
          </a:prstGeom>
          <a:noFill/>
        </p:spPr>
        <p:txBody>
          <a:bodyPr wrap="square">
            <a:spAutoFit/>
          </a:bodyPr>
          <a:lstStyle/>
          <a:p>
            <a:pPr>
              <a:defRPr b="1" sz="1100">
                <a:solidFill>
                  <a:srgbClr val="2563EB"/>
                </a:solidFill>
              </a:defRPr>
            </a:pPr>
            <a:r>
              <a:t>BRIDGING HUMAN VOICE &amp; MACHINE TEXT</a:t>
            </a:r>
          </a:p>
          <a:p>
            <a:pPr>
              <a:spcAft>
                <a:spcPts val="1200"/>
              </a:spcAft>
              <a:defRPr sz="1000">
                <a:solidFill>
                  <a:srgbClr val="64748B"/>
                </a:solidFill>
              </a:defRPr>
            </a:pPr>
            <a:r>
              <a:t>How continuous acoustic air pressure fluctuations transform into discrete tokens:</a:t>
            </a:r>
          </a:p>
          <a:p>
            <a:pPr>
              <a:spcBef>
                <a:spcPts val="600"/>
              </a:spcBef>
              <a:defRPr b="1" sz="1050">
                <a:solidFill>
                  <a:srgbClr val="D97706"/>
                </a:solidFill>
              </a:defRPr>
            </a:pPr>
            <a:r>
              <a:t>■ 1. Audio Waveform (16 kHz PCM)</a:t>
            </a:r>
          </a:p>
          <a:p>
            <a:pPr>
              <a:defRPr sz="950">
                <a:solidFill>
                  <a:srgbClr val="0F172A"/>
                </a:solidFill>
              </a:defRPr>
            </a:pPr>
            <a:r>
              <a:t>    Continuous air vibrations digitized into discrete time-domain amplitude samples.</a:t>
            </a:r>
          </a:p>
          <a:p>
            <a:pPr>
              <a:spcBef>
                <a:spcPts val="600"/>
              </a:spcBef>
              <a:defRPr b="1" sz="1050">
                <a:solidFill>
                  <a:srgbClr val="2563EB"/>
                </a:solidFill>
              </a:defRPr>
            </a:pPr>
            <a:r>
              <a:t>■ 2. Feature Extraction (MFCC / Mel)</a:t>
            </a:r>
          </a:p>
          <a:p>
            <a:pPr>
              <a:defRPr sz="950">
                <a:solidFill>
                  <a:srgbClr val="0F172A"/>
                </a:solidFill>
              </a:defRPr>
            </a:pPr>
            <a:r>
              <a:t>    25ms overlapping windows converted into 80-channel log-mel spectrogram energy bands.</a:t>
            </a:r>
          </a:p>
          <a:p>
            <a:pPr>
              <a:spcBef>
                <a:spcPts val="600"/>
              </a:spcBef>
              <a:defRPr b="1" sz="1050">
                <a:solidFill>
                  <a:srgbClr val="7C3AED"/>
                </a:solidFill>
              </a:defRPr>
            </a:pPr>
            <a:r>
              <a:t>■ 3. Deep Neural Acoustic Model</a:t>
            </a:r>
          </a:p>
          <a:p>
            <a:pPr>
              <a:defRPr sz="950">
                <a:solidFill>
                  <a:srgbClr val="0F172A"/>
                </a:solidFill>
              </a:defRPr>
            </a:pPr>
            <a:r>
              <a:t>    Conformer or Whisper encoder maps spectrogram frames into latent phonetic states.</a:t>
            </a:r>
          </a:p>
          <a:p>
            <a:pPr>
              <a:spcBef>
                <a:spcPts val="600"/>
              </a:spcBef>
              <a:defRPr b="1" sz="1050">
                <a:solidFill>
                  <a:srgbClr val="059669"/>
                </a:solidFill>
              </a:defRPr>
            </a:pPr>
            <a:r>
              <a:t>■ 4. Language Decoding &amp; Output</a:t>
            </a:r>
          </a:p>
          <a:p>
            <a:pPr>
              <a:defRPr sz="950">
                <a:solidFill>
                  <a:srgbClr val="0F172A"/>
                </a:solidFill>
              </a:defRPr>
            </a:pPr>
            <a:r>
              <a:t>    Beam search with NLP priors disambiguates homophones and restores punctuation.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1005840"/>
          </a:xfrm>
          <a:prstGeom prst="rect">
            <a:avLst/>
          </a:prstGeom>
          <a:noFill/>
        </p:spPr>
        <p:txBody>
          <a:bodyPr wrap="square" lIns="0" tIns="0" rIns="0" bIns="0">
            <a:spAutoFit/>
          </a:bodyPr>
          <a:lstStyle/>
          <a:p>
            <a:pPr>
              <a:defRPr sz="1000" b="1">
                <a:solidFill>
                  <a:srgbClr val="2563EB"/>
                </a:solidFill>
                <a:latin typeface="Calibri"/>
              </a:defRPr>
            </a:pPr>
            <a:r>
              <a:t>●  SLIDE 02 — FOUNDATIONS &amp; CORE PROBLEM</a:t>
            </a:r>
          </a:p>
          <a:p>
            <a:pPr>
              <a:spcBef>
                <a:spcPts val="300"/>
              </a:spcBef>
              <a:defRPr sz="2200" b="1">
                <a:solidFill>
                  <a:srgbClr val="0F172A"/>
                </a:solidFill>
                <a:latin typeface="Calibri"/>
              </a:defRPr>
            </a:pPr>
            <a:r>
              <a:t>What is Speech to Text (STT)?</a:t>
            </a:r>
          </a:p>
          <a:p>
            <a:pPr>
              <a:spcBef>
                <a:spcPts val="200"/>
              </a:spcBef>
              <a:defRPr sz="1100">
                <a:solidFill>
                  <a:srgbClr val="64748B"/>
                </a:solidFill>
                <a:latin typeface="Calibri"/>
              </a:defRPr>
            </a:pPr>
            <a:r>
              <a:t>The Acoustic-Phonetic Inverse Problem &amp; The Nature of Human Speech</a:t>
            </a:r>
          </a:p>
        </p:txBody>
      </p:sp>
      <p:sp>
        <p:nvSpPr>
          <p:cNvPr id="4" name="Rounded Rectangle 3"/>
          <p:cNvSpPr/>
          <p:nvPr/>
        </p:nvSpPr>
        <p:spPr>
          <a:xfrm>
            <a:off x="731520" y="1554480"/>
            <a:ext cx="5212080" cy="47548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737360"/>
            <a:ext cx="4663440" cy="4389120"/>
          </a:xfrm>
          <a:prstGeom prst="rect">
            <a:avLst/>
          </a:prstGeom>
          <a:noFill/>
        </p:spPr>
        <p:txBody>
          <a:bodyPr wrap="square">
            <a:spAutoFit/>
          </a:bodyPr>
          <a:lstStyle/>
          <a:p>
            <a:pPr>
              <a:defRPr b="1" sz="1100">
                <a:solidFill>
                  <a:srgbClr val="2563EB"/>
                </a:solidFill>
              </a:defRPr>
            </a:pPr>
            <a:r>
              <a:t>THE FUNDAMENTAL INVERSE PROBLEM</a:t>
            </a:r>
          </a:p>
          <a:p>
            <a:pPr>
              <a:spcBef>
                <a:spcPts val="800"/>
              </a:spcBef>
              <a:defRPr b="1" sz="1050">
                <a:solidFill>
                  <a:srgbClr val="0F172A"/>
                </a:solidFill>
              </a:defRPr>
            </a:pPr>
            <a:r>
              <a:t>• No Physical Word Boundaries:</a:t>
            </a:r>
          </a:p>
          <a:p>
            <a:pPr>
              <a:defRPr sz="950">
                <a:solidFill>
                  <a:srgbClr val="64748B"/>
                </a:solidFill>
              </a:defRPr>
            </a:pPr>
            <a:r>
              <a:t>   Unlike written text where white spaces delimit words, continuous speech has no physical silences between words. The silence between words is often shorter than stop-closures inside words!</a:t>
            </a:r>
          </a:p>
          <a:p>
            <a:pPr>
              <a:spcBef>
                <a:spcPts val="800"/>
              </a:spcBef>
              <a:defRPr b="1" sz="1050">
                <a:solidFill>
                  <a:srgbClr val="0F172A"/>
                </a:solidFill>
              </a:defRPr>
            </a:pPr>
            <a:r>
              <a:t>• Extreme Speaker Variability:</a:t>
            </a:r>
          </a:p>
          <a:p>
            <a:pPr>
              <a:defRPr sz="950">
                <a:solidFill>
                  <a:srgbClr val="64748B"/>
                </a:solidFill>
              </a:defRPr>
            </a:pPr>
            <a:r>
              <a:t>   Vocal tract length, gender, regional accents, speaking rates, emotional states, and health conditions fundamentally alter the acoustic frequencies.</a:t>
            </a:r>
          </a:p>
          <a:p>
            <a:pPr>
              <a:spcBef>
                <a:spcPts val="800"/>
              </a:spcBef>
              <a:defRPr b="1" sz="1050">
                <a:solidFill>
                  <a:srgbClr val="0F172A"/>
                </a:solidFill>
              </a:defRPr>
            </a:pPr>
            <a:r>
              <a:t>• Environmental &amp; Channel Noise:</a:t>
            </a:r>
          </a:p>
          <a:p>
            <a:pPr>
              <a:defRPr sz="950">
                <a:solidFill>
                  <a:srgbClr val="64748B"/>
                </a:solidFill>
              </a:defRPr>
            </a:pPr>
            <a:r>
              <a:t>   Reverberant room acoustics, microphone frequency distortions, background chatter, and the Lombard effect (speakers altering vocal pitch in noise).</a:t>
            </a:r>
          </a:p>
        </p:txBody>
      </p:sp>
      <p:sp>
        <p:nvSpPr>
          <p:cNvPr id="6" name="Rounded Rectangle 5"/>
          <p:cNvSpPr/>
          <p:nvPr/>
        </p:nvSpPr>
        <p:spPr>
          <a:xfrm>
            <a:off x="6217920" y="1554480"/>
            <a:ext cx="5242255" cy="47548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0" y="1737360"/>
            <a:ext cx="4693615" cy="4389120"/>
          </a:xfrm>
          <a:prstGeom prst="rect">
            <a:avLst/>
          </a:prstGeom>
          <a:noFill/>
        </p:spPr>
        <p:txBody>
          <a:bodyPr wrap="square">
            <a:spAutoFit/>
          </a:bodyPr>
          <a:lstStyle/>
          <a:p>
            <a:pPr>
              <a:defRPr b="1" sz="1100">
                <a:solidFill>
                  <a:srgbClr val="2563EB"/>
                </a:solidFill>
              </a:defRPr>
            </a:pPr>
            <a:r>
              <a:t>THE CONTINUOUS-TO-DISCRETE GAP</a:t>
            </a:r>
          </a:p>
          <a:p>
            <a:pPr>
              <a:spcAft>
                <a:spcPts val="1000"/>
              </a:spcAft>
              <a:defRPr sz="1000">
                <a:solidFill>
                  <a:srgbClr val="64748B"/>
                </a:solidFill>
              </a:defRPr>
            </a:pPr>
            <a:r>
              <a:t>Demonstrating how acoustic signals contrast with written tokens:</a:t>
            </a:r>
          </a:p>
          <a:p>
            <a:pPr>
              <a:spcBef>
                <a:spcPts val="800"/>
              </a:spcBef>
              <a:defRPr b="1" sz="1050">
                <a:solidFill>
                  <a:srgbClr val="059669"/>
                </a:solidFill>
              </a:defRPr>
            </a:pPr>
            <a:r>
              <a:t>■ Case 1: Phrase 'Speech Recognition'</a:t>
            </a:r>
          </a:p>
          <a:p>
            <a:pPr>
              <a:defRPr sz="950">
                <a:solidFill>
                  <a:srgbClr val="0F172A"/>
                </a:solidFill>
              </a:defRPr>
            </a:pPr>
            <a:r>
              <a:t>Acoustic Wave: Single uninterrupted pressure wave with zero pauses.</a:t>
            </a:r>
            <a:br/>
            <a:r>
              <a:t>Linguistic Output: Two discrete lexical items separated by space.</a:t>
            </a:r>
            <a:br/>
            <a:r>
              <a:t>Challenge: Co-articulation blends the final /tʃ/ directly into initial /r/.</a:t>
            </a:r>
          </a:p>
          <a:p>
            <a:pPr>
              <a:spcBef>
                <a:spcPts val="800"/>
              </a:spcBef>
              <a:defRPr b="1" sz="1050">
                <a:solidFill>
                  <a:srgbClr val="059669"/>
                </a:solidFill>
              </a:defRPr>
            </a:pPr>
            <a:r>
              <a:t>■ Case 2: Acoustic Stream /haʊ tə rɛkənaɪz spiːtʃ/</a:t>
            </a:r>
          </a:p>
          <a:p>
            <a:pPr>
              <a:defRPr sz="950">
                <a:solidFill>
                  <a:srgbClr val="0F172A"/>
                </a:solidFill>
              </a:defRPr>
            </a:pPr>
            <a:r>
              <a:t>Candidate A: 'How to recognize speech' (Meaningful, high LM prior)</a:t>
            </a:r>
            <a:br/>
            <a:r>
              <a:t>Candidate B: 'How to wreck a nice beach' (Nonsense, low LM prior)</a:t>
            </a:r>
            <a:br/>
            <a:r>
              <a:t>Conclusion: Without linguistic context, acoustic evidence is ambiguous.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1005840"/>
          </a:xfrm>
          <a:prstGeom prst="rect">
            <a:avLst/>
          </a:prstGeom>
          <a:noFill/>
        </p:spPr>
        <p:txBody>
          <a:bodyPr wrap="square" lIns="0" tIns="0" rIns="0" bIns="0">
            <a:spAutoFit/>
          </a:bodyPr>
          <a:lstStyle/>
          <a:p>
            <a:pPr>
              <a:defRPr sz="1000" b="1">
                <a:solidFill>
                  <a:srgbClr val="2563EB"/>
                </a:solidFill>
                <a:latin typeface="Calibri"/>
              </a:defRPr>
            </a:pPr>
            <a:r>
              <a:t>●  SLIDE 03 — PHYSICS &amp; SIGNAL PROCESSING</a:t>
            </a:r>
          </a:p>
          <a:p>
            <a:pPr>
              <a:spcBef>
                <a:spcPts val="300"/>
              </a:spcBef>
              <a:defRPr sz="2200" b="1">
                <a:solidFill>
                  <a:srgbClr val="0F172A"/>
                </a:solidFill>
                <a:latin typeface="Calibri"/>
              </a:defRPr>
            </a:pPr>
            <a:r>
              <a:t>Physics of Speech &amp; Signal Digitization</a:t>
            </a:r>
          </a:p>
          <a:p>
            <a:pPr>
              <a:spcBef>
                <a:spcPts val="200"/>
              </a:spcBef>
              <a:defRPr sz="1100">
                <a:solidFill>
                  <a:srgbClr val="64748B"/>
                </a:solidFill>
                <a:latin typeface="Calibri"/>
              </a:defRPr>
            </a:pPr>
            <a:r>
              <a:t>From Vocal Tract Resonances to Sampling, Nyquist Theorem &amp; 16-Bit Quantization</a:t>
            </a:r>
          </a:p>
        </p:txBody>
      </p:sp>
      <p:sp>
        <p:nvSpPr>
          <p:cNvPr id="4" name="Rounded Rectangle 3"/>
          <p:cNvSpPr/>
          <p:nvPr/>
        </p:nvSpPr>
        <p:spPr>
          <a:xfrm>
            <a:off x="731520" y="1554480"/>
            <a:ext cx="5212080" cy="47548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737360"/>
            <a:ext cx="4663440" cy="4389120"/>
          </a:xfrm>
          <a:prstGeom prst="rect">
            <a:avLst/>
          </a:prstGeom>
          <a:noFill/>
        </p:spPr>
        <p:txBody>
          <a:bodyPr wrap="square">
            <a:spAutoFit/>
          </a:bodyPr>
          <a:lstStyle/>
          <a:p>
            <a:pPr>
              <a:defRPr b="1" sz="1100">
                <a:solidFill>
                  <a:srgbClr val="2563EB"/>
                </a:solidFill>
              </a:defRPr>
            </a:pPr>
            <a:r>
              <a:t>THE SOURCE-FILTER MODEL OF SPEECH</a:t>
            </a:r>
          </a:p>
          <a:p>
            <a:pPr>
              <a:spcBef>
                <a:spcPts val="800"/>
              </a:spcBef>
              <a:defRPr b="1" sz="1050">
                <a:solidFill>
                  <a:srgbClr val="0F172A"/>
                </a:solidFill>
              </a:defRPr>
            </a:pPr>
            <a:r>
              <a:t>• The Source (Glottal Excitation):</a:t>
            </a:r>
          </a:p>
          <a:p>
            <a:pPr>
              <a:defRPr sz="950">
                <a:solidFill>
                  <a:srgbClr val="64748B"/>
                </a:solidFill>
              </a:defRPr>
            </a:pPr>
            <a:r>
              <a:t>Lungs push air through vibrating vocal folds at Fundamental Frequency F0 (85–180 Hz in men, 165–255 Hz in women), producing harmonic excitation buzz or turbulence.</a:t>
            </a:r>
          </a:p>
          <a:p>
            <a:pPr>
              <a:spcBef>
                <a:spcPts val="800"/>
              </a:spcBef>
              <a:defRPr b="1" sz="1050">
                <a:solidFill>
                  <a:srgbClr val="0F172A"/>
                </a:solidFill>
              </a:defRPr>
            </a:pPr>
            <a:r>
              <a:t>• The Filter (Vocal Tract Resonances):</a:t>
            </a:r>
          </a:p>
          <a:p>
            <a:pPr>
              <a:defRPr sz="950">
                <a:solidFill>
                  <a:srgbClr val="64748B"/>
                </a:solidFill>
              </a:defRPr>
            </a:pPr>
            <a:r>
              <a:t>The pharynx, tongue, palate, and oral cavity act as time-varying acoustic resonators creating spectral peaks called Formants (F1, F2, F3) that identify vowels.</a:t>
            </a:r>
          </a:p>
          <a:p>
            <a:pPr>
              <a:spcBef>
                <a:spcPts val="800"/>
              </a:spcBef>
              <a:defRPr b="1" sz="1050">
                <a:solidFill>
                  <a:srgbClr val="0F172A"/>
                </a:solidFill>
              </a:defRPr>
            </a:pPr>
            <a:r>
              <a:t>• Radiation at Lips:</a:t>
            </a:r>
          </a:p>
          <a:p>
            <a:pPr>
              <a:defRPr sz="950">
                <a:solidFill>
                  <a:srgbClr val="64748B"/>
                </a:solidFill>
              </a:defRPr>
            </a:pPr>
            <a:r>
              <a:t>The boundary between lips and free atmosphere acts as a high-pass acoustic filter (+6 dB/octave boost), dispersing sound pressure waves into space.</a:t>
            </a:r>
          </a:p>
        </p:txBody>
      </p:sp>
      <p:sp>
        <p:nvSpPr>
          <p:cNvPr id="6" name="Rounded Rectangle 5"/>
          <p:cNvSpPr/>
          <p:nvPr/>
        </p:nvSpPr>
        <p:spPr>
          <a:xfrm>
            <a:off x="6217920" y="1554480"/>
            <a:ext cx="5242255" cy="47548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0" y="1737360"/>
            <a:ext cx="4693615" cy="4389120"/>
          </a:xfrm>
          <a:prstGeom prst="rect">
            <a:avLst/>
          </a:prstGeom>
          <a:noFill/>
        </p:spPr>
        <p:txBody>
          <a:bodyPr wrap="square">
            <a:spAutoFit/>
          </a:bodyPr>
          <a:lstStyle/>
          <a:p>
            <a:pPr>
              <a:defRPr b="1" sz="1100">
                <a:solidFill>
                  <a:srgbClr val="2563EB"/>
                </a:solidFill>
              </a:defRPr>
            </a:pPr>
            <a:r>
              <a:t>ANALOG TO DIGITAL CONVERSION (ADC)</a:t>
            </a:r>
          </a:p>
          <a:p>
            <a:pPr>
              <a:spcAft>
                <a:spcPts val="1000"/>
              </a:spcAft>
              <a:defRPr sz="1000">
                <a:solidFill>
                  <a:srgbClr val="64748B"/>
                </a:solidFill>
              </a:defRPr>
            </a:pPr>
            <a:r>
              <a:t>Converting physical air pressure waves into discrete computational values:</a:t>
            </a:r>
          </a:p>
          <a:p>
            <a:pPr>
              <a:spcBef>
                <a:spcPts val="800"/>
              </a:spcBef>
              <a:defRPr b="1" sz="1050">
                <a:solidFill>
                  <a:srgbClr val="059669"/>
                </a:solidFill>
              </a:defRPr>
            </a:pPr>
            <a:r>
              <a:t>■ Sampling Rate (Nyquist-Shannon Theorem):</a:t>
            </a:r>
          </a:p>
          <a:p>
            <a:pPr>
              <a:defRPr sz="950">
                <a:solidFill>
                  <a:srgbClr val="0F172A"/>
                </a:solidFill>
              </a:defRPr>
            </a:pPr>
            <a:r>
              <a:t>f_sample &gt;= 2 * f_max. Human speech intelligibility extends up to 8 kHz. Therefore, a 16 kHz sampling rate (16,000 samples/sec) is the universal ASR standard.</a:t>
            </a:r>
          </a:p>
          <a:p>
            <a:pPr>
              <a:spcBef>
                <a:spcPts val="800"/>
              </a:spcBef>
              <a:defRPr b="1" sz="1050">
                <a:solidFill>
                  <a:srgbClr val="059669"/>
                </a:solidFill>
              </a:defRPr>
            </a:pPr>
            <a:r>
              <a:t>■ Quantization &amp; Bit Depth:</a:t>
            </a:r>
          </a:p>
          <a:p>
            <a:pPr>
              <a:defRPr sz="950">
                <a:solidFill>
                  <a:srgbClr val="0F172A"/>
                </a:solidFill>
              </a:defRPr>
            </a:pPr>
            <a:r>
              <a:t>Linear PCM encoding with 16 bits per sample provides 2^16 = 65,536 discrete amplitude levels, yielding 96.3 dB dynamic range with near-zero quantization noise.</a:t>
            </a:r>
          </a:p>
          <a:p>
            <a:pPr>
              <a:spcBef>
                <a:spcPts val="800"/>
              </a:spcBef>
              <a:defRPr b="1" sz="1050">
                <a:solidFill>
                  <a:srgbClr val="059669"/>
                </a:solidFill>
              </a:defRPr>
            </a:pPr>
            <a:r>
              <a:t>■ Telemetry Comparison:</a:t>
            </a:r>
          </a:p>
          <a:p>
            <a:pPr>
              <a:defRPr sz="950">
                <a:solidFill>
                  <a:srgbClr val="0F172A"/>
                </a:solidFill>
              </a:defRPr>
            </a:pPr>
            <a:r>
              <a:t>16 kHz / 16-bit studio audio = 256 kbps (Full formant spectrum)</a:t>
            </a:r>
            <a:br/>
            <a:r>
              <a:t>8 kHz / 8-bit telephony = 64 kbps (High fricatives clipped above 4 kHz)</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1005840"/>
          </a:xfrm>
          <a:prstGeom prst="rect">
            <a:avLst/>
          </a:prstGeom>
          <a:noFill/>
        </p:spPr>
        <p:txBody>
          <a:bodyPr wrap="square" lIns="0" tIns="0" rIns="0" bIns="0">
            <a:spAutoFit/>
          </a:bodyPr>
          <a:lstStyle/>
          <a:p>
            <a:pPr>
              <a:defRPr sz="1000" b="1">
                <a:solidFill>
                  <a:srgbClr val="2563EB"/>
                </a:solidFill>
                <a:latin typeface="Calibri"/>
              </a:defRPr>
            </a:pPr>
            <a:r>
              <a:t>●  SLIDE 04 — PHONETICS &amp; PHONOLOGY</a:t>
            </a:r>
          </a:p>
          <a:p>
            <a:pPr>
              <a:spcBef>
                <a:spcPts val="300"/>
              </a:spcBef>
              <a:defRPr sz="2200" b="1">
                <a:solidFill>
                  <a:srgbClr val="0F172A"/>
                </a:solidFill>
                <a:latin typeface="Calibri"/>
              </a:defRPr>
            </a:pPr>
            <a:r>
              <a:t>Phonetics, Phonology &amp; Sound Alphabets</a:t>
            </a:r>
          </a:p>
          <a:p>
            <a:pPr>
              <a:spcBef>
                <a:spcPts val="200"/>
              </a:spcBef>
              <a:defRPr sz="1100">
                <a:solidFill>
                  <a:srgbClr val="64748B"/>
                </a:solidFill>
                <a:latin typeface="Calibri"/>
              </a:defRPr>
            </a:pPr>
            <a:r>
              <a:t>Phones, Phonemes, ARPAbet (39 Phonemes) &amp; The Co-Articulation Phenomenon</a:t>
            </a:r>
          </a:p>
        </p:txBody>
      </p:sp>
      <p:sp>
        <p:nvSpPr>
          <p:cNvPr id="4" name="Rounded Rectangle 3"/>
          <p:cNvSpPr/>
          <p:nvPr/>
        </p:nvSpPr>
        <p:spPr>
          <a:xfrm>
            <a:off x="731520" y="1554480"/>
            <a:ext cx="5212080" cy="47548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737360"/>
            <a:ext cx="4663440" cy="4389120"/>
          </a:xfrm>
          <a:prstGeom prst="rect">
            <a:avLst/>
          </a:prstGeom>
          <a:noFill/>
        </p:spPr>
        <p:txBody>
          <a:bodyPr wrap="square">
            <a:spAutoFit/>
          </a:bodyPr>
          <a:lstStyle/>
          <a:p>
            <a:pPr>
              <a:defRPr b="1" sz="1100">
                <a:solidFill>
                  <a:srgbClr val="2563EB"/>
                </a:solidFill>
              </a:defRPr>
            </a:pPr>
            <a:r>
              <a:t>THE BUILDING BLOCKS OF SPEECH</a:t>
            </a:r>
          </a:p>
          <a:p>
            <a:pPr>
              <a:spcBef>
                <a:spcPts val="800"/>
              </a:spcBef>
              <a:defRPr b="1" sz="1050">
                <a:solidFill>
                  <a:srgbClr val="0F172A"/>
                </a:solidFill>
              </a:defRPr>
            </a:pPr>
            <a:r>
              <a:t>• Phone vs Phoneme vs Grapheme:</a:t>
            </a:r>
          </a:p>
          <a:p>
            <a:pPr>
              <a:defRPr sz="950">
                <a:solidFill>
                  <a:srgbClr val="64748B"/>
                </a:solidFill>
              </a:defRPr>
            </a:pPr>
            <a:r>
              <a:t>Graphemes are written letters ('f', 'ph'). Phonemes are abstract linguistic sound units distinguishing meaning (/f/ in 'fat' vs /v/ in 'vat'). Phones are physical acoustic realizations recorded by sensors.</a:t>
            </a:r>
          </a:p>
          <a:p>
            <a:pPr>
              <a:spcBef>
                <a:spcPts val="800"/>
              </a:spcBef>
              <a:defRPr b="1" sz="1050">
                <a:solidFill>
                  <a:srgbClr val="0F172A"/>
                </a:solidFill>
              </a:defRPr>
            </a:pPr>
            <a:r>
              <a:t>• ARPAbet Standard (39 Phonemes):</a:t>
            </a:r>
          </a:p>
          <a:p>
            <a:pPr>
              <a:defRPr sz="950">
                <a:solidFill>
                  <a:srgbClr val="64748B"/>
                </a:solidFill>
              </a:defRPr>
            </a:pPr>
            <a:r>
              <a:t>15 Vowels: AA, AE, AH, AO, AW, AY, EH, ER, EY, IH, IY, OW, OY, UH, UW.</a:t>
            </a:r>
            <a:br/>
            <a:r>
              <a:t>24 Consonants: Stops (P, B, T, D, K, G), Fricatives (S, Z, SH, ZH, F, V, TH, DH), Nasals (M, N, NG), Liquids/Glides (L, R, W, Y, HH).</a:t>
            </a:r>
          </a:p>
          <a:p>
            <a:pPr>
              <a:spcBef>
                <a:spcPts val="800"/>
              </a:spcBef>
              <a:defRPr b="1" sz="1050">
                <a:solidFill>
                  <a:srgbClr val="0F172A"/>
                </a:solidFill>
              </a:defRPr>
            </a:pPr>
            <a:r>
              <a:t>• The Co-Articulation Challenge:</a:t>
            </a:r>
          </a:p>
          <a:p>
            <a:pPr>
              <a:defRPr sz="950">
                <a:solidFill>
                  <a:srgbClr val="64748B"/>
                </a:solidFill>
              </a:defRPr>
            </a:pPr>
            <a:r>
              <a:t>Human articulators move smoothly. A phoneme's acoustic signature varies depending on neighbors (e.g. /k/ in 'key' vs 'cool'). Solved via triphone context modeling.</a:t>
            </a:r>
          </a:p>
        </p:txBody>
      </p:sp>
      <p:sp>
        <p:nvSpPr>
          <p:cNvPr id="6" name="Rounded Rectangle 5"/>
          <p:cNvSpPr/>
          <p:nvPr/>
        </p:nvSpPr>
        <p:spPr>
          <a:xfrm>
            <a:off x="6217920" y="1554480"/>
            <a:ext cx="5242255" cy="47548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0" y="1737360"/>
            <a:ext cx="4693615" cy="4389120"/>
          </a:xfrm>
          <a:prstGeom prst="rect">
            <a:avLst/>
          </a:prstGeom>
          <a:noFill/>
        </p:spPr>
        <p:txBody>
          <a:bodyPr wrap="square">
            <a:spAutoFit/>
          </a:bodyPr>
          <a:lstStyle/>
          <a:p>
            <a:pPr>
              <a:defRPr b="1" sz="1100">
                <a:solidFill>
                  <a:srgbClr val="2563EB"/>
                </a:solidFill>
              </a:defRPr>
            </a:pPr>
            <a:r>
              <a:t>ACOUSTIC PHONETIC SIGNATURES</a:t>
            </a:r>
          </a:p>
          <a:p>
            <a:pPr>
              <a:spcBef>
                <a:spcPts val="800"/>
              </a:spcBef>
              <a:defRPr b="1" sz="1050">
                <a:solidFill>
                  <a:srgbClr val="7C3AED"/>
                </a:solidFill>
              </a:defRPr>
            </a:pPr>
            <a:r>
              <a:t>■ 1. Vowels (/i:/, /u:/, /ae/):</a:t>
            </a:r>
          </a:p>
          <a:p>
            <a:pPr>
              <a:defRPr sz="950">
                <a:solidFill>
                  <a:srgbClr val="0F172A"/>
                </a:solidFill>
              </a:defRPr>
            </a:pPr>
            <a:r>
              <a:t>Periodic, harmonic acoustic energy. Characterized by prominent Formants F1 (jaw height) and F2 (tongue frontness). Very high acoustic energy.</a:t>
            </a:r>
          </a:p>
          <a:p>
            <a:pPr>
              <a:spcBef>
                <a:spcPts val="800"/>
              </a:spcBef>
              <a:defRPr b="1" sz="1050">
                <a:solidFill>
                  <a:srgbClr val="7C3AED"/>
                </a:solidFill>
              </a:defRPr>
            </a:pPr>
            <a:r>
              <a:t>■ 2. Plosive Stops (/p, b, t, d, k, g/):</a:t>
            </a:r>
          </a:p>
          <a:p>
            <a:pPr>
              <a:defRPr sz="950">
                <a:solidFill>
                  <a:srgbClr val="0F172A"/>
                </a:solidFill>
              </a:defRPr>
            </a:pPr>
            <a:r>
              <a:t>Total silent pressure closure (40–80 ms) followed by a sharp, explosive high-frequency transient burst upon release.</a:t>
            </a:r>
          </a:p>
          <a:p>
            <a:pPr>
              <a:spcBef>
                <a:spcPts val="800"/>
              </a:spcBef>
              <a:defRPr b="1" sz="1050">
                <a:solidFill>
                  <a:srgbClr val="7C3AED"/>
                </a:solidFill>
              </a:defRPr>
            </a:pPr>
            <a:r>
              <a:t>■ 3. Fricatives (/s, z, sh, f, v/):</a:t>
            </a:r>
          </a:p>
          <a:p>
            <a:pPr>
              <a:defRPr sz="950">
                <a:solidFill>
                  <a:srgbClr val="0F172A"/>
                </a:solidFill>
              </a:defRPr>
            </a:pPr>
            <a:r>
              <a:t>Non-periodic turbulent white noise generated by forcing air through narrow vocal tract constrictions (energy prominent &gt; 3,500 Hz).</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1005840"/>
          </a:xfrm>
          <a:prstGeom prst="rect">
            <a:avLst/>
          </a:prstGeom>
          <a:noFill/>
        </p:spPr>
        <p:txBody>
          <a:bodyPr wrap="square" lIns="0" tIns="0" rIns="0" bIns="0">
            <a:spAutoFit/>
          </a:bodyPr>
          <a:lstStyle/>
          <a:p>
            <a:pPr>
              <a:defRPr sz="1000" b="1">
                <a:solidFill>
                  <a:srgbClr val="2563EB"/>
                </a:solidFill>
                <a:latin typeface="Calibri"/>
              </a:defRPr>
            </a:pPr>
            <a:r>
              <a:t>●  SLIDE 05 — SIGNAL PROCESSING &amp; FEATURES</a:t>
            </a:r>
          </a:p>
          <a:p>
            <a:pPr>
              <a:spcBef>
                <a:spcPts val="300"/>
              </a:spcBef>
              <a:defRPr sz="2200" b="1">
                <a:solidFill>
                  <a:srgbClr val="0F172A"/>
                </a:solidFill>
                <a:latin typeface="Calibri"/>
              </a:defRPr>
            </a:pPr>
            <a:r>
              <a:t>Audio Feature Extraction: STFT to MFCCs</a:t>
            </a:r>
          </a:p>
          <a:p>
            <a:pPr>
              <a:spcBef>
                <a:spcPts val="200"/>
              </a:spcBef>
              <a:defRPr sz="1100">
                <a:solidFill>
                  <a:srgbClr val="64748B"/>
                </a:solidFill>
                <a:latin typeface="Calibri"/>
              </a:defRPr>
            </a:pPr>
            <a:r>
              <a:t>From Raw Waveforms to 80-Channel Filterbanks and 39-Dimensional Cepstral Vectors</a:t>
            </a:r>
          </a:p>
        </p:txBody>
      </p:sp>
      <p:sp>
        <p:nvSpPr>
          <p:cNvPr id="4" name="Rounded Rectangle 3"/>
          <p:cNvSpPr/>
          <p:nvPr/>
        </p:nvSpPr>
        <p:spPr>
          <a:xfrm>
            <a:off x="731520" y="1554480"/>
            <a:ext cx="5212080" cy="47548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737360"/>
            <a:ext cx="4663440" cy="4389120"/>
          </a:xfrm>
          <a:prstGeom prst="rect">
            <a:avLst/>
          </a:prstGeom>
          <a:noFill/>
        </p:spPr>
        <p:txBody>
          <a:bodyPr wrap="square">
            <a:spAutoFit/>
          </a:bodyPr>
          <a:lstStyle/>
          <a:p>
            <a:pPr>
              <a:defRPr b="1" sz="1100">
                <a:solidFill>
                  <a:srgbClr val="2563EB"/>
                </a:solidFill>
              </a:defRPr>
            </a:pPr>
            <a:r>
              <a:t>THE 5-STEP SIGNAL PROCESSING PIPELINE</a:t>
            </a:r>
          </a:p>
          <a:p>
            <a:pPr>
              <a:spcBef>
                <a:spcPts val="500"/>
              </a:spcBef>
              <a:defRPr b="1" sz="1000">
                <a:solidFill>
                  <a:srgbClr val="1E3A8A"/>
                </a:solidFill>
              </a:defRPr>
            </a:pPr>
            <a:r>
              <a:t>1. Pre-Emphasis:</a:t>
            </a:r>
          </a:p>
          <a:p>
            <a:pPr>
              <a:defRPr sz="900">
                <a:solidFill>
                  <a:srgbClr val="64748B"/>
                </a:solidFill>
              </a:defRPr>
            </a:pPr>
            <a:r>
              <a:t>y[n] = x[n] - 0.97*x[n-1]. Boosts higher frequencies to balance glottal drop.</a:t>
            </a:r>
          </a:p>
          <a:p>
            <a:pPr>
              <a:spcBef>
                <a:spcPts val="500"/>
              </a:spcBef>
              <a:defRPr b="1" sz="1000">
                <a:solidFill>
                  <a:srgbClr val="1E3A8A"/>
                </a:solidFill>
              </a:defRPr>
            </a:pPr>
            <a:r>
              <a:t>2. Framing &amp; Windowing:</a:t>
            </a:r>
          </a:p>
          <a:p>
            <a:pPr>
              <a:defRPr sz="900">
                <a:solidFill>
                  <a:srgbClr val="64748B"/>
                </a:solidFill>
              </a:defRPr>
            </a:pPr>
            <a:r>
              <a:t>25ms frames shifted every 10ms (100 frames/sec) multiplied by Hamming window.</a:t>
            </a:r>
          </a:p>
          <a:p>
            <a:pPr>
              <a:spcBef>
                <a:spcPts val="500"/>
              </a:spcBef>
              <a:defRPr b="1" sz="1000">
                <a:solidFill>
                  <a:srgbClr val="1E3A8A"/>
                </a:solidFill>
              </a:defRPr>
            </a:pPr>
            <a:r>
              <a:t>3. Fast Fourier Transform (FFT):</a:t>
            </a:r>
          </a:p>
          <a:p>
            <a:pPr>
              <a:defRPr sz="900">
                <a:solidFill>
                  <a:srgbClr val="64748B"/>
                </a:solidFill>
              </a:defRPr>
            </a:pPr>
            <a:r>
              <a:t>Converts each time window into its frequency power magnitude spectrum.</a:t>
            </a:r>
          </a:p>
          <a:p>
            <a:pPr>
              <a:spcBef>
                <a:spcPts val="500"/>
              </a:spcBef>
              <a:defRPr b="1" sz="1000">
                <a:solidFill>
                  <a:srgbClr val="1E3A8A"/>
                </a:solidFill>
              </a:defRPr>
            </a:pPr>
            <a:r>
              <a:t>4. Mel-Scale Filter Bank:</a:t>
            </a:r>
          </a:p>
          <a:p>
            <a:pPr>
              <a:defRPr sz="900">
                <a:solidFill>
                  <a:srgbClr val="64748B"/>
                </a:solidFill>
              </a:defRPr>
            </a:pPr>
            <a:r>
              <a:t>80 overlapping triangular filters warping frequencies to human cochlear perception: m = 2595*log10(1 + f/700).</a:t>
            </a:r>
          </a:p>
          <a:p>
            <a:pPr>
              <a:spcBef>
                <a:spcPts val="500"/>
              </a:spcBef>
              <a:defRPr b="1" sz="1000">
                <a:solidFill>
                  <a:srgbClr val="1E3A8A"/>
                </a:solidFill>
              </a:defRPr>
            </a:pPr>
            <a:r>
              <a:t>5. Discrete Cosine Transform (DCT):</a:t>
            </a:r>
          </a:p>
          <a:p>
            <a:pPr>
              <a:defRPr sz="900">
                <a:solidFill>
                  <a:srgbClr val="64748B"/>
                </a:solidFill>
              </a:defRPr>
            </a:pPr>
            <a:r>
              <a:t>Yields 13 Cepstral coefficients + 13 Delta (velocity) + 13 Delta-Delta (accel) = 39D vector.</a:t>
            </a:r>
          </a:p>
        </p:txBody>
      </p:sp>
      <p:sp>
        <p:nvSpPr>
          <p:cNvPr id="6" name="Rounded Rectangle 5"/>
          <p:cNvSpPr/>
          <p:nvPr/>
        </p:nvSpPr>
        <p:spPr>
          <a:xfrm>
            <a:off x="6217920" y="1554480"/>
            <a:ext cx="5242255" cy="47548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0" y="1737360"/>
            <a:ext cx="4693615" cy="4389120"/>
          </a:xfrm>
          <a:prstGeom prst="rect">
            <a:avLst/>
          </a:prstGeom>
          <a:noFill/>
        </p:spPr>
        <p:txBody>
          <a:bodyPr wrap="square">
            <a:spAutoFit/>
          </a:bodyPr>
          <a:lstStyle/>
          <a:p>
            <a:pPr>
              <a:defRPr b="1" sz="1100">
                <a:solidFill>
                  <a:srgbClr val="2563EB"/>
                </a:solidFill>
              </a:defRPr>
            </a:pPr>
            <a:r>
              <a:t>SPECTROGRAMS &amp; DEEP LEARNING FBANK</a:t>
            </a:r>
          </a:p>
          <a:p>
            <a:pPr>
              <a:spcAft>
                <a:spcPts val="1000"/>
              </a:spcAft>
              <a:defRPr sz="1000">
                <a:solidFill>
                  <a:srgbClr val="64748B"/>
                </a:solidFill>
              </a:defRPr>
            </a:pPr>
            <a:r>
              <a:t>Why Modern Deep Learning Switched to 80-Channel Filterbanks:</a:t>
            </a:r>
          </a:p>
          <a:p>
            <a:pPr>
              <a:spcBef>
                <a:spcPts val="800"/>
              </a:spcBef>
              <a:defRPr b="1" sz="1050">
                <a:solidFill>
                  <a:srgbClr val="059669"/>
                </a:solidFill>
              </a:defRPr>
            </a:pPr>
            <a:r>
              <a:t>■ Filterbank (FBANK) vs MFCC:</a:t>
            </a:r>
          </a:p>
          <a:p>
            <a:pPr>
              <a:defRPr sz="950">
                <a:solidFill>
                  <a:srgbClr val="0F172A"/>
                </a:solidFill>
              </a:defRPr>
            </a:pPr>
            <a:r>
              <a:t>Classical HMM-GMMs required DCT decorrelation because diagonal covariance Gaussian mixtures cannot model correlated dimensions. Deep neural networks naturally handle correlated features, so modern systems (Whisper, Conformer) bypass DCT entirely.</a:t>
            </a:r>
          </a:p>
          <a:p>
            <a:pPr>
              <a:spcBef>
                <a:spcPts val="800"/>
              </a:spcBef>
              <a:defRPr b="1" sz="1050">
                <a:solidFill>
                  <a:srgbClr val="059669"/>
                </a:solidFill>
              </a:defRPr>
            </a:pPr>
            <a:r>
              <a:t>■ 80-Channel Log-Mel Spectrogram:</a:t>
            </a:r>
          </a:p>
          <a:p>
            <a:pPr>
              <a:defRPr sz="950">
                <a:solidFill>
                  <a:srgbClr val="0F172A"/>
                </a:solidFill>
              </a:defRPr>
            </a:pPr>
            <a:r>
              <a:t>Preserves fine temporal-spectral details without lossy DCT compression, functioning as a 2D 'image' of speech for convolutional and transformer encoders.</a:t>
            </a:r>
          </a:p>
          <a:p>
            <a:pPr>
              <a:spcBef>
                <a:spcPts val="800"/>
              </a:spcBef>
              <a:defRPr b="1" sz="1050">
                <a:solidFill>
                  <a:srgbClr val="059669"/>
                </a:solidFill>
              </a:defRPr>
            </a:pPr>
            <a:r>
              <a:t>■ Frame-Rate Invariant Feature Stream:</a:t>
            </a:r>
          </a:p>
          <a:p>
            <a:pPr>
              <a:defRPr sz="950">
                <a:solidFill>
                  <a:srgbClr val="0F172A"/>
                </a:solidFill>
              </a:defRPr>
            </a:pPr>
            <a:r>
              <a:t>Outputs a continuous 80-dimensional feature vector every 10 milliseconds.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1005840"/>
          </a:xfrm>
          <a:prstGeom prst="rect">
            <a:avLst/>
          </a:prstGeom>
          <a:noFill/>
        </p:spPr>
        <p:txBody>
          <a:bodyPr wrap="square" lIns="0" tIns="0" rIns="0" bIns="0">
            <a:spAutoFit/>
          </a:bodyPr>
          <a:lstStyle/>
          <a:p>
            <a:pPr>
              <a:defRPr sz="1000" b="1">
                <a:solidFill>
                  <a:srgbClr val="2563EB"/>
                </a:solidFill>
                <a:latin typeface="Calibri"/>
              </a:defRPr>
            </a:pPr>
            <a:r>
              <a:t>●  SLIDE 06 — CLASSICAL ARCHITECTURE</a:t>
            </a:r>
          </a:p>
          <a:p>
            <a:pPr>
              <a:spcBef>
                <a:spcPts val="300"/>
              </a:spcBef>
              <a:defRPr sz="2200" b="1">
                <a:solidFill>
                  <a:srgbClr val="0F172A"/>
                </a:solidFill>
                <a:latin typeface="Calibri"/>
              </a:defRPr>
            </a:pPr>
            <a:r>
              <a:t>The Classical Triad: HMM-GMM / DNN</a:t>
            </a:r>
          </a:p>
          <a:p>
            <a:pPr>
              <a:spcBef>
                <a:spcPts val="200"/>
              </a:spcBef>
              <a:defRPr sz="1100">
                <a:solidFill>
                  <a:srgbClr val="64748B"/>
                </a:solidFill>
                <a:latin typeface="Calibri"/>
              </a:defRPr>
            </a:pPr>
            <a:r>
              <a:t>Acoustic Model, Pronunciation Lexicon, Language Model &amp; Viterbi WFST Search</a:t>
            </a:r>
          </a:p>
        </p:txBody>
      </p:sp>
      <p:sp>
        <p:nvSpPr>
          <p:cNvPr id="4" name="Rounded Rectangle 3"/>
          <p:cNvSpPr/>
          <p:nvPr/>
        </p:nvSpPr>
        <p:spPr>
          <a:xfrm>
            <a:off x="731520" y="1554480"/>
            <a:ext cx="5212080" cy="47548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737360"/>
            <a:ext cx="4663440" cy="4389120"/>
          </a:xfrm>
          <a:prstGeom prst="rect">
            <a:avLst/>
          </a:prstGeom>
          <a:noFill/>
        </p:spPr>
        <p:txBody>
          <a:bodyPr wrap="square">
            <a:spAutoFit/>
          </a:bodyPr>
          <a:lstStyle/>
          <a:p>
            <a:pPr>
              <a:defRPr b="1" sz="1100">
                <a:solidFill>
                  <a:srgbClr val="2563EB"/>
                </a:solidFill>
              </a:defRPr>
            </a:pPr>
            <a:r>
              <a:t>THE THREE PILLARS OF CLASSICAL ASR</a:t>
            </a:r>
          </a:p>
          <a:p>
            <a:pPr>
              <a:spcBef>
                <a:spcPts val="800"/>
              </a:spcBef>
              <a:defRPr b="1" sz="1050">
                <a:solidFill>
                  <a:srgbClr val="1E3A8A"/>
                </a:solidFill>
              </a:defRPr>
            </a:pPr>
            <a:r>
              <a:t>1. Acoustic Model (AM):</a:t>
            </a:r>
          </a:p>
          <a:p>
            <a:pPr>
              <a:defRPr sz="950">
                <a:solidFill>
                  <a:srgbClr val="64748B"/>
                </a:solidFill>
              </a:defRPr>
            </a:pPr>
            <a:r>
              <a:t>HMM + Gaussian Mixture Models (or DNN). Models P(Acoustic Frames | Phone States). Each triphone is represented as a 3-state left-to-right HMM.</a:t>
            </a:r>
          </a:p>
          <a:p>
            <a:pPr>
              <a:spcBef>
                <a:spcPts val="800"/>
              </a:spcBef>
              <a:defRPr b="1" sz="1050">
                <a:solidFill>
                  <a:srgbClr val="1E3A8A"/>
                </a:solidFill>
              </a:defRPr>
            </a:pPr>
            <a:r>
              <a:t>2. Pronunciation Lexicon (L):</a:t>
            </a:r>
          </a:p>
          <a:p>
            <a:pPr>
              <a:defRPr sz="950">
                <a:solidFill>
                  <a:srgbClr val="64748B"/>
                </a:solidFill>
              </a:defRPr>
            </a:pPr>
            <a:r>
              <a:t>Hand-crafted phonetic dictionary (CMUdict) mapping phonemes to words: /k/ /ae/ /t/ -&gt; 'cat'. Cannot generalize to out-of-vocabulary words.</a:t>
            </a:r>
          </a:p>
          <a:p>
            <a:pPr>
              <a:spcBef>
                <a:spcPts val="800"/>
              </a:spcBef>
              <a:defRPr b="1" sz="1050">
                <a:solidFill>
                  <a:srgbClr val="1E3A8A"/>
                </a:solidFill>
              </a:defRPr>
            </a:pPr>
            <a:r>
              <a:t>3. Language Model (LM):</a:t>
            </a:r>
          </a:p>
          <a:p>
            <a:pPr>
              <a:defRPr sz="950">
                <a:solidFill>
                  <a:srgbClr val="64748B"/>
                </a:solidFill>
              </a:defRPr>
            </a:pPr>
            <a:r>
              <a:t>Statistical N-gram (SRILM / KenLM). Computes sequence prior P(W) = P(w_i | w_{i-1}, w_{i-2}).</a:t>
            </a:r>
          </a:p>
          <a:p>
            <a:br/>
            <a:pPr>
              <a:defRPr sz="950">
                <a:solidFill>
                  <a:srgbClr val="EF4444"/>
                </a:solidFill>
              </a:defRPr>
            </a:pPr>
            <a:r>
              <a:t>⚠️ Major Flaw: Cascading Error Propagation</a:t>
            </a:r>
            <a:br/>
            <a:r>
              <a:t>If the acoustic model fails, the entire dictionary search tree collapses.</a:t>
            </a:r>
          </a:p>
        </p:txBody>
      </p:sp>
      <p:sp>
        <p:nvSpPr>
          <p:cNvPr id="6" name="Rounded Rectangle 5"/>
          <p:cNvSpPr/>
          <p:nvPr/>
        </p:nvSpPr>
        <p:spPr>
          <a:xfrm>
            <a:off x="6217920" y="1554480"/>
            <a:ext cx="5242255" cy="47548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0" y="1737360"/>
            <a:ext cx="4693615" cy="4389120"/>
          </a:xfrm>
          <a:prstGeom prst="rect">
            <a:avLst/>
          </a:prstGeom>
          <a:noFill/>
        </p:spPr>
        <p:txBody>
          <a:bodyPr wrap="square">
            <a:spAutoFit/>
          </a:bodyPr>
          <a:lstStyle/>
          <a:p>
            <a:pPr>
              <a:defRPr b="1" sz="1100">
                <a:solidFill>
                  <a:srgbClr val="2563EB"/>
                </a:solidFill>
              </a:defRPr>
            </a:pPr>
            <a:r>
              <a:t>WFST COMPOSITION &amp; VITERBI TRELLIS SEARCH</a:t>
            </a:r>
          </a:p>
          <a:p>
            <a:pPr>
              <a:spcBef>
                <a:spcPts val="800"/>
              </a:spcBef>
              <a:defRPr b="1" sz="1050">
                <a:solidFill>
                  <a:srgbClr val="7C3AED"/>
                </a:solidFill>
              </a:defRPr>
            </a:pPr>
            <a:r>
              <a:t>■ Weighted Finite-State Transducer (WFST):</a:t>
            </a:r>
          </a:p>
          <a:p>
            <a:pPr>
              <a:defRPr sz="950">
                <a:solidFill>
                  <a:srgbClr val="0F172A"/>
                </a:solidFill>
              </a:defRPr>
            </a:pPr>
            <a:r>
              <a:t>Classical decoding unifies all 3 components into a single massive search graph:</a:t>
            </a:r>
            <a:br/>
            <a:r>
              <a:t>Search Graph = H o C o L o G</a:t>
            </a:r>
            <a:br/>
            <a:r>
              <a:t>(HMM states o Triphone context o Lexicon o Grammar).</a:t>
            </a:r>
          </a:p>
          <a:p>
            <a:pPr>
              <a:spcBef>
                <a:spcPts val="800"/>
              </a:spcBef>
              <a:defRPr b="1" sz="1050">
                <a:solidFill>
                  <a:srgbClr val="7C3AED"/>
                </a:solidFill>
              </a:defRPr>
            </a:pPr>
            <a:r>
              <a:t>■ 3-State Left-to-Right HMM Trellis:</a:t>
            </a:r>
          </a:p>
          <a:p>
            <a:pPr>
              <a:defRPr sz="950">
                <a:solidFill>
                  <a:srgbClr val="0F172A"/>
                </a:solidFill>
              </a:defRPr>
            </a:pPr>
            <a:r>
              <a:t>State S1 (Onset transition) -&gt; State S2 (Steady-state vowel kernel) -&gt; State S3 (Offset release). Self-loops model duration variability.</a:t>
            </a:r>
          </a:p>
          <a:p>
            <a:pPr>
              <a:spcBef>
                <a:spcPts val="800"/>
              </a:spcBef>
              <a:defRPr b="1" sz="1050">
                <a:solidFill>
                  <a:srgbClr val="7C3AED"/>
                </a:solidFill>
              </a:defRPr>
            </a:pPr>
            <a:r>
              <a:t>■ Viterbi Beam Search:</a:t>
            </a:r>
          </a:p>
          <a:p>
            <a:pPr>
              <a:defRPr sz="950">
                <a:solidFill>
                  <a:srgbClr val="0F172A"/>
                </a:solidFill>
              </a:defRPr>
            </a:pPr>
            <a:r>
              <a:t>Dynamic programming pathfinder pruning low-probability branches with a beam width threshold to maintain computational feasibility.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1005840"/>
          </a:xfrm>
          <a:prstGeom prst="rect">
            <a:avLst/>
          </a:prstGeom>
          <a:noFill/>
        </p:spPr>
        <p:txBody>
          <a:bodyPr wrap="square" lIns="0" tIns="0" rIns="0" bIns="0">
            <a:spAutoFit/>
          </a:bodyPr>
          <a:lstStyle/>
          <a:p>
            <a:pPr>
              <a:defRPr sz="1000" b="1">
                <a:solidFill>
                  <a:srgbClr val="2563EB"/>
                </a:solidFill>
                <a:latin typeface="Calibri"/>
              </a:defRPr>
            </a:pPr>
            <a:r>
              <a:t>●  SLIDE 07 — TEMPORAL ALIGNMENT &amp; LOSS</a:t>
            </a:r>
          </a:p>
          <a:p>
            <a:pPr>
              <a:spcBef>
                <a:spcPts val="300"/>
              </a:spcBef>
              <a:defRPr sz="2200" b="1">
                <a:solidFill>
                  <a:srgbClr val="0F172A"/>
                </a:solidFill>
                <a:latin typeface="Calibri"/>
              </a:defRPr>
            </a:pPr>
            <a:r>
              <a:t>Temporal Alignment &amp; CTC Loss</a:t>
            </a:r>
          </a:p>
          <a:p>
            <a:pPr>
              <a:spcBef>
                <a:spcPts val="200"/>
              </a:spcBef>
              <a:defRPr sz="1100">
                <a:solidFill>
                  <a:srgbClr val="64748B"/>
                </a:solidFill>
                <a:latin typeface="Calibri"/>
              </a:defRPr>
            </a:pPr>
            <a:r>
              <a:t>The Alignment Problem: 100 Frames per Second vs. 3 Words per Second</a:t>
            </a:r>
          </a:p>
        </p:txBody>
      </p:sp>
      <p:sp>
        <p:nvSpPr>
          <p:cNvPr id="4" name="Rounded Rectangle 3"/>
          <p:cNvSpPr/>
          <p:nvPr/>
        </p:nvSpPr>
        <p:spPr>
          <a:xfrm>
            <a:off x="731520" y="1554480"/>
            <a:ext cx="5212080" cy="47548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737360"/>
            <a:ext cx="4663440" cy="4389120"/>
          </a:xfrm>
          <a:prstGeom prst="rect">
            <a:avLst/>
          </a:prstGeom>
          <a:noFill/>
        </p:spPr>
        <p:txBody>
          <a:bodyPr wrap="square">
            <a:spAutoFit/>
          </a:bodyPr>
          <a:lstStyle/>
          <a:p>
            <a:pPr>
              <a:defRPr b="1" sz="1100">
                <a:solidFill>
                  <a:srgbClr val="2563EB"/>
                </a:solidFill>
              </a:defRPr>
            </a:pPr>
            <a:r>
              <a:t>THE SEQUENCE LENGTH MISMATCH</a:t>
            </a:r>
          </a:p>
          <a:p>
            <a:pPr>
              <a:spcBef>
                <a:spcPts val="800"/>
              </a:spcBef>
              <a:defRPr b="1" sz="1050">
                <a:solidFill>
                  <a:srgbClr val="0F172A"/>
                </a:solidFill>
              </a:defRPr>
            </a:pPr>
            <a:r>
              <a:t>• The Alignment Dilemma:</a:t>
            </a:r>
          </a:p>
          <a:p>
            <a:pPr>
              <a:defRPr sz="950">
                <a:solidFill>
                  <a:srgbClr val="64748B"/>
                </a:solidFill>
              </a:defRPr>
            </a:pPr>
            <a:r>
              <a:t>Audio input sequence has T = 100 to 500 frames/sec. Target text output has only U = 10 to 30 characters/sec. T &gt;&gt; U. How do we train neural networks without manual frame-level phonetic timestamps?</a:t>
            </a:r>
          </a:p>
          <a:p>
            <a:pPr>
              <a:spcBef>
                <a:spcPts val="800"/>
              </a:spcBef>
              <a:defRPr b="1" sz="1050">
                <a:solidFill>
                  <a:srgbClr val="0F172A"/>
                </a:solidFill>
              </a:defRPr>
            </a:pPr>
            <a:r>
              <a:t>• The Special Blank Token (&lt;blank&gt;):</a:t>
            </a:r>
          </a:p>
          <a:p>
            <a:pPr>
              <a:defRPr sz="950">
                <a:solidFill>
                  <a:srgbClr val="64748B"/>
                </a:solidFill>
              </a:defRPr>
            </a:pPr>
            <a:r>
              <a:t>Alex Graves (2006) introduced Connectionist Temporal Classification. Expands the character vocabulary with an epsilon blank symbol emitted during silence or co-articulation transitions.</a:t>
            </a:r>
          </a:p>
          <a:p>
            <a:pPr>
              <a:spcBef>
                <a:spcPts val="800"/>
              </a:spcBef>
              <a:defRPr b="1" sz="1050">
                <a:solidFill>
                  <a:srgbClr val="0F172A"/>
                </a:solidFill>
              </a:defRPr>
            </a:pPr>
            <a:r>
              <a:t>• The Collapse Operator B:</a:t>
            </a:r>
          </a:p>
          <a:p>
            <a:pPr>
              <a:defRPr sz="950">
                <a:solidFill>
                  <a:srgbClr val="64748B"/>
                </a:solidFill>
              </a:defRPr>
            </a:pPr>
            <a:r>
              <a:t>1. Collapses contiguous identical characters (c c c -&gt; c).</a:t>
            </a:r>
            <a:br/>
            <a:r>
              <a:t>2. Deletes all blank symbols (_ c _ a a _ t _ -&gt; 'cat').</a:t>
            </a:r>
          </a:p>
        </p:txBody>
      </p:sp>
      <p:sp>
        <p:nvSpPr>
          <p:cNvPr id="6" name="Rounded Rectangle 5"/>
          <p:cNvSpPr/>
          <p:nvPr/>
        </p:nvSpPr>
        <p:spPr>
          <a:xfrm>
            <a:off x="6217920" y="1554480"/>
            <a:ext cx="5242255" cy="47548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0" y="1737360"/>
            <a:ext cx="4693615" cy="4389120"/>
          </a:xfrm>
          <a:prstGeom prst="rect">
            <a:avLst/>
          </a:prstGeom>
          <a:noFill/>
        </p:spPr>
        <p:txBody>
          <a:bodyPr wrap="square">
            <a:spAutoFit/>
          </a:bodyPr>
          <a:lstStyle/>
          <a:p>
            <a:pPr>
              <a:defRPr b="1" sz="1100">
                <a:solidFill>
                  <a:srgbClr val="2563EB"/>
                </a:solidFill>
              </a:defRPr>
            </a:pPr>
            <a:r>
              <a:t>CTC LOSS &amp; DYNAMIC PROGRAMMING</a:t>
            </a:r>
          </a:p>
          <a:p>
            <a:pPr>
              <a:spcAft>
                <a:spcPts val="1000"/>
              </a:spcAft>
              <a:defRPr sz="1000">
                <a:solidFill>
                  <a:srgbClr val="64748B"/>
                </a:solidFill>
              </a:defRPr>
            </a:pPr>
            <a:r>
              <a:t>How CTC Computes Loss over All Valid Alignment Paths:</a:t>
            </a:r>
          </a:p>
          <a:p>
            <a:pPr>
              <a:spcBef>
                <a:spcPts val="800"/>
              </a:spcBef>
              <a:defRPr b="1" sz="1050">
                <a:solidFill>
                  <a:srgbClr val="059669"/>
                </a:solidFill>
              </a:defRPr>
            </a:pPr>
            <a:r>
              <a:t>■ Summing over Valid Paths:</a:t>
            </a:r>
          </a:p>
          <a:p>
            <a:pPr>
              <a:defRPr sz="950">
                <a:solidFill>
                  <a:srgbClr val="0F172A"/>
                </a:solidFill>
              </a:defRPr>
            </a:pPr>
            <a:r>
              <a:t>Multiple frame sequences collapse to the exact same word:</a:t>
            </a:r>
            <a:br/>
            <a:r>
              <a:t>Path 1: [_ c c _ a a t _] -&gt; 'cat'</a:t>
            </a:r>
            <a:br/>
            <a:r>
              <a:t>Path 2: [c _ _ a _ _ t t] -&gt; 'cat'</a:t>
            </a:r>
            <a:br/>
            <a:r>
              <a:t>CTC marginalizes over all valid paths via forward-backward dynamic programming.</a:t>
            </a:r>
          </a:p>
          <a:p>
            <a:pPr>
              <a:spcBef>
                <a:spcPts val="800"/>
              </a:spcBef>
              <a:defRPr b="1" sz="1050">
                <a:solidFill>
                  <a:srgbClr val="059669"/>
                </a:solidFill>
              </a:defRPr>
            </a:pPr>
            <a:r>
              <a:t>■ CTC Loss Objective:</a:t>
            </a:r>
          </a:p>
          <a:p>
            <a:pPr>
              <a:defRPr sz="950">
                <a:solidFill>
                  <a:srgbClr val="0F172A"/>
                </a:solidFill>
              </a:defRPr>
            </a:pPr>
            <a:r>
              <a:t>L_CTC = -ln Sum_{pi in B^-1(Y)} P(pi | X).</a:t>
            </a:r>
            <a:br/>
            <a:r>
              <a:t>Minimizing this loss directly maximizes the probability of the true label sequence.</a:t>
            </a:r>
          </a:p>
          <a:p>
            <a:pPr>
              <a:spcBef>
                <a:spcPts val="800"/>
              </a:spcBef>
              <a:defRPr b="1" sz="1050">
                <a:solidFill>
                  <a:srgbClr val="059669"/>
                </a:solidFill>
              </a:defRPr>
            </a:pPr>
            <a:r>
              <a:t>■ Why CTC Revolutionized STT:</a:t>
            </a:r>
          </a:p>
          <a:p>
            <a:pPr>
              <a:defRPr sz="950">
                <a:solidFill>
                  <a:srgbClr val="0F172A"/>
                </a:solidFill>
              </a:defRPr>
            </a:pPr>
            <a:r>
              <a:t>Enables direct End-to-End training on raw audio and transcript pairs with zero alignment pre-processing!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1005840"/>
          </a:xfrm>
          <a:prstGeom prst="rect">
            <a:avLst/>
          </a:prstGeom>
          <a:noFill/>
        </p:spPr>
        <p:txBody>
          <a:bodyPr wrap="square" lIns="0" tIns="0" rIns="0" bIns="0">
            <a:spAutoFit/>
          </a:bodyPr>
          <a:lstStyle/>
          <a:p>
            <a:pPr>
              <a:defRPr sz="1000" b="1">
                <a:solidFill>
                  <a:srgbClr val="2563EB"/>
                </a:solidFill>
                <a:latin typeface="Calibri"/>
              </a:defRPr>
            </a:pPr>
            <a:r>
              <a:t>●  SLIDE 08 — DEEP NEURAL ARCHITECTURES</a:t>
            </a:r>
          </a:p>
          <a:p>
            <a:pPr>
              <a:spcBef>
                <a:spcPts val="300"/>
              </a:spcBef>
              <a:defRPr sz="2200" b="1">
                <a:solidFill>
                  <a:srgbClr val="0F172A"/>
                </a:solidFill>
                <a:latin typeface="Calibri"/>
              </a:defRPr>
            </a:pPr>
            <a:r>
              <a:t>Modern End-to-End Architectures</a:t>
            </a:r>
          </a:p>
          <a:p>
            <a:pPr>
              <a:spcBef>
                <a:spcPts val="200"/>
              </a:spcBef>
              <a:defRPr sz="1100">
                <a:solidFill>
                  <a:srgbClr val="64748B"/>
                </a:solidFill>
                <a:latin typeface="Calibri"/>
              </a:defRPr>
            </a:pPr>
            <a:r>
              <a:t>From LAS and RNN-Transducer to the Conformer (CNN + Self-Attention)</a:t>
            </a:r>
          </a:p>
        </p:txBody>
      </p:sp>
      <p:sp>
        <p:nvSpPr>
          <p:cNvPr id="4" name="Rounded Rectangle 3"/>
          <p:cNvSpPr/>
          <p:nvPr/>
        </p:nvSpPr>
        <p:spPr>
          <a:xfrm>
            <a:off x="731520" y="1554480"/>
            <a:ext cx="5212080" cy="47548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737360"/>
            <a:ext cx="4663440" cy="4389120"/>
          </a:xfrm>
          <a:prstGeom prst="rect">
            <a:avLst/>
          </a:prstGeom>
          <a:noFill/>
        </p:spPr>
        <p:txBody>
          <a:bodyPr wrap="square">
            <a:spAutoFit/>
          </a:bodyPr>
          <a:lstStyle/>
          <a:p>
            <a:pPr>
              <a:defRPr b="1" sz="1100">
                <a:solidFill>
                  <a:srgbClr val="2563EB"/>
                </a:solidFill>
              </a:defRPr>
            </a:pPr>
            <a:r>
              <a:t>THE 4 GENERATIONS OF NEURAL STT</a:t>
            </a:r>
          </a:p>
          <a:p>
            <a:pPr>
              <a:spcBef>
                <a:spcPts val="600"/>
              </a:spcBef>
              <a:defRPr b="1" sz="1000">
                <a:solidFill>
                  <a:srgbClr val="1E3A8A"/>
                </a:solidFill>
              </a:defRPr>
            </a:pPr>
            <a:r>
              <a:t>1. Hybrid DNN-HMM (2012):</a:t>
            </a:r>
          </a:p>
          <a:p>
            <a:pPr>
              <a:defRPr sz="900">
                <a:solidFill>
                  <a:srgbClr val="64748B"/>
                </a:solidFill>
              </a:defRPr>
            </a:pPr>
            <a:r>
              <a:t>Deep neural networks replaced GMMs for frame posterior estimation; retained classical HMM Viterbi search.</a:t>
            </a:r>
          </a:p>
          <a:p>
            <a:pPr>
              <a:spcBef>
                <a:spcPts val="600"/>
              </a:spcBef>
              <a:defRPr b="1" sz="1000">
                <a:solidFill>
                  <a:srgbClr val="1E3A8A"/>
                </a:solidFill>
              </a:defRPr>
            </a:pPr>
            <a:r>
              <a:t>2. Listen, Attend and Spell (LAS, 2016):</a:t>
            </a:r>
          </a:p>
          <a:p>
            <a:pPr>
              <a:defRPr sz="900">
                <a:solidFill>
                  <a:srgbClr val="64748B"/>
                </a:solidFill>
              </a:defRPr>
            </a:pPr>
            <a:r>
              <a:t>First Sequence-to-Sequence attention model. BiLSTM encoder + Attention decoder. Offline only.</a:t>
            </a:r>
          </a:p>
          <a:p>
            <a:pPr>
              <a:spcBef>
                <a:spcPts val="600"/>
              </a:spcBef>
              <a:defRPr b="1" sz="1000">
                <a:solidFill>
                  <a:srgbClr val="1E3A8A"/>
                </a:solidFill>
              </a:defRPr>
            </a:pPr>
            <a:r>
              <a:t>3. RNN-Transducer (RNN-T, 2018):</a:t>
            </a:r>
          </a:p>
          <a:p>
            <a:pPr>
              <a:defRPr sz="900">
                <a:solidFill>
                  <a:srgbClr val="64748B"/>
                </a:solidFill>
              </a:defRPr>
            </a:pPr>
            <a:r>
              <a:t>Enables real-time streaming speech on smartphones. Transcription Net + Prediction Net + Joint Net. Emits tokens with sub-100ms latency.</a:t>
            </a:r>
          </a:p>
          <a:p>
            <a:pPr>
              <a:spcBef>
                <a:spcPts val="600"/>
              </a:spcBef>
              <a:defRPr b="1" sz="1000">
                <a:solidFill>
                  <a:srgbClr val="1E3A8A"/>
                </a:solidFill>
              </a:defRPr>
            </a:pPr>
            <a:r>
              <a:t>4. Conformer (Google, 2020):</a:t>
            </a:r>
          </a:p>
          <a:p>
            <a:pPr>
              <a:defRPr sz="900">
                <a:solidFill>
                  <a:srgbClr val="64748B"/>
                </a:solidFill>
              </a:defRPr>
            </a:pPr>
            <a:r>
              <a:t>Combines Depthwise Separable Convolutions (local formants) with Multi-Head Self-Attention (global context) in a Macaron-style block.</a:t>
            </a:r>
          </a:p>
        </p:txBody>
      </p:sp>
      <p:sp>
        <p:nvSpPr>
          <p:cNvPr id="6" name="Rounded Rectangle 5"/>
          <p:cNvSpPr/>
          <p:nvPr/>
        </p:nvSpPr>
        <p:spPr>
          <a:xfrm>
            <a:off x="6217920" y="1554480"/>
            <a:ext cx="5242255" cy="47548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0" y="1737360"/>
            <a:ext cx="4693615" cy="4389120"/>
          </a:xfrm>
          <a:prstGeom prst="rect">
            <a:avLst/>
          </a:prstGeom>
          <a:noFill/>
        </p:spPr>
        <p:txBody>
          <a:bodyPr wrap="square">
            <a:spAutoFit/>
          </a:bodyPr>
          <a:lstStyle/>
          <a:p>
            <a:pPr>
              <a:defRPr b="1" sz="1100">
                <a:solidFill>
                  <a:srgbClr val="2563EB"/>
                </a:solidFill>
              </a:defRPr>
            </a:pPr>
            <a:r>
              <a:t>THE CONFORMER ARCHITECTURE BREAKTHROUGH</a:t>
            </a:r>
          </a:p>
          <a:p>
            <a:pPr>
              <a:spcBef>
                <a:spcPts val="800"/>
              </a:spcBef>
              <a:defRPr b="1" sz="1050">
                <a:solidFill>
                  <a:srgbClr val="059669"/>
                </a:solidFill>
              </a:defRPr>
            </a:pPr>
            <a:r>
              <a:t>■ Why Conformer Dominates:</a:t>
            </a:r>
          </a:p>
          <a:p>
            <a:pPr>
              <a:defRPr sz="950">
                <a:solidFill>
                  <a:srgbClr val="0F172A"/>
                </a:solidFill>
              </a:defRPr>
            </a:pPr>
            <a:r>
              <a:t>Standard Transformers lack shift-invariance and struggle with fine-grained local acoustic features. Standard CNNs lack long-range temporal attention. Conformer unifies both.</a:t>
            </a:r>
          </a:p>
          <a:p>
            <a:pPr>
              <a:spcBef>
                <a:spcPts val="800"/>
              </a:spcBef>
              <a:defRPr b="1" sz="1050">
                <a:solidFill>
                  <a:srgbClr val="059669"/>
                </a:solidFill>
              </a:defRPr>
            </a:pPr>
            <a:r>
              <a:t>■ Macaron-Style Structure:</a:t>
            </a:r>
          </a:p>
          <a:p>
            <a:pPr>
              <a:defRPr sz="950">
                <a:solidFill>
                  <a:srgbClr val="0F172A"/>
                </a:solidFill>
              </a:defRPr>
            </a:pPr>
            <a:r>
              <a:t>1. Feed-Forward Module (0.5x half-step)</a:t>
            </a:r>
            <a:br/>
            <a:r>
              <a:t>2. Multi-Head Self-Attention Module</a:t>
            </a:r>
            <a:br/>
            <a:r>
              <a:t>3. Convolution Module (Gated Linear Units + 1D Depthwise Conv)</a:t>
            </a:r>
            <a:br/>
            <a:r>
              <a:t>4. Feed-Forward Module (0.5x half-step) + LayerNorm.</a:t>
            </a:r>
          </a:p>
          <a:p>
            <a:pPr>
              <a:spcBef>
                <a:spcPts val="800"/>
              </a:spcBef>
              <a:defRPr b="1" sz="1050">
                <a:solidFill>
                  <a:srgbClr val="059669"/>
                </a:solidFill>
              </a:defRPr>
            </a:pPr>
            <a:r>
              <a:t>■ State-of-the-Art Benchmark:</a:t>
            </a:r>
          </a:p>
          <a:p>
            <a:pPr>
              <a:defRPr sz="950">
                <a:solidFill>
                  <a:srgbClr val="0F172A"/>
                </a:solidFill>
              </a:defRPr>
            </a:pPr>
            <a:r>
              <a:t>Achieved 1.9% WER on LibriSpeech clean test set, setting a new global benchmark for academic ASR.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1005840"/>
          </a:xfrm>
          <a:prstGeom prst="rect">
            <a:avLst/>
          </a:prstGeom>
          <a:noFill/>
        </p:spPr>
        <p:txBody>
          <a:bodyPr wrap="square" lIns="0" tIns="0" rIns="0" bIns="0">
            <a:spAutoFit/>
          </a:bodyPr>
          <a:lstStyle/>
          <a:p>
            <a:pPr>
              <a:defRPr sz="1000" b="1">
                <a:solidFill>
                  <a:srgbClr val="2563EB"/>
                </a:solidFill>
                <a:latin typeface="Calibri"/>
              </a:defRPr>
            </a:pPr>
            <a:r>
              <a:t>●  SLIDE 09 — SPEECH FOUNDATION MODELS</a:t>
            </a:r>
          </a:p>
          <a:p>
            <a:pPr>
              <a:spcBef>
                <a:spcPts val="300"/>
              </a:spcBef>
              <a:defRPr sz="2200" b="1">
                <a:solidFill>
                  <a:srgbClr val="0F172A"/>
                </a:solidFill>
                <a:latin typeface="Calibri"/>
              </a:defRPr>
            </a:pPr>
            <a:r>
              <a:t>Foundation Models: OpenAI Whisper</a:t>
            </a:r>
          </a:p>
          <a:p>
            <a:pPr>
              <a:spcBef>
                <a:spcPts val="200"/>
              </a:spcBef>
              <a:defRPr sz="1100">
                <a:solidFill>
                  <a:srgbClr val="64748B"/>
                </a:solidFill>
                <a:latin typeface="Calibri"/>
              </a:defRPr>
            </a:pPr>
            <a:r>
              <a:t>Weak Supervision on 680,000 Hours, Multilingual Tokens &amp; Self-Supervised Audio</a:t>
            </a:r>
          </a:p>
        </p:txBody>
      </p:sp>
      <p:sp>
        <p:nvSpPr>
          <p:cNvPr id="4" name="Rounded Rectangle 3"/>
          <p:cNvSpPr/>
          <p:nvPr/>
        </p:nvSpPr>
        <p:spPr>
          <a:xfrm>
            <a:off x="731520" y="1554480"/>
            <a:ext cx="5212080" cy="47548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737360"/>
            <a:ext cx="4663440" cy="4389120"/>
          </a:xfrm>
          <a:prstGeom prst="rect">
            <a:avLst/>
          </a:prstGeom>
          <a:noFill/>
        </p:spPr>
        <p:txBody>
          <a:bodyPr wrap="square">
            <a:spAutoFit/>
          </a:bodyPr>
          <a:lstStyle/>
          <a:p>
            <a:pPr>
              <a:defRPr b="1" sz="1100">
                <a:solidFill>
                  <a:srgbClr val="2563EB"/>
                </a:solidFill>
              </a:defRPr>
            </a:pPr>
            <a:r>
              <a:t>HOW WHISPER CHANGED SPEECH RECOGNITION</a:t>
            </a:r>
          </a:p>
          <a:p>
            <a:pPr>
              <a:spcBef>
                <a:spcPts val="800"/>
              </a:spcBef>
              <a:defRPr b="1" sz="1050">
                <a:solidFill>
                  <a:srgbClr val="1E3A8A"/>
                </a:solidFill>
              </a:defRPr>
            </a:pPr>
            <a:r>
              <a:t>1. Massive Weak Supervision:</a:t>
            </a:r>
          </a:p>
          <a:p>
            <a:pPr>
              <a:defRPr sz="950">
                <a:solidFill>
                  <a:srgbClr val="64748B"/>
                </a:solidFill>
              </a:defRPr>
            </a:pPr>
            <a:r>
              <a:t>Trained on 680,000 hours of diverse multi-accent web audio—over 100x larger than previous datasets. Overcomes domain-specific overfitting.</a:t>
            </a:r>
          </a:p>
          <a:p>
            <a:pPr>
              <a:spcBef>
                <a:spcPts val="800"/>
              </a:spcBef>
              <a:defRPr b="1" sz="1050">
                <a:solidFill>
                  <a:srgbClr val="1E3A8A"/>
                </a:solidFill>
              </a:defRPr>
            </a:pPr>
            <a:r>
              <a:t>2. Standard Transformer Encoder-Decoder:</a:t>
            </a:r>
          </a:p>
          <a:p>
            <a:pPr>
              <a:defRPr sz="950">
                <a:solidFill>
                  <a:srgbClr val="64748B"/>
                </a:solidFill>
              </a:defRPr>
            </a:pPr>
            <a:r>
              <a:t>Input: 30-second audio chunks converted to 80-channel log-mel spectrograms. Output: Byte-Pair Encoded (BPE) text tokens.</a:t>
            </a:r>
          </a:p>
          <a:p>
            <a:pPr>
              <a:spcBef>
                <a:spcPts val="800"/>
              </a:spcBef>
              <a:defRPr b="1" sz="1050">
                <a:solidFill>
                  <a:srgbClr val="1E3A8A"/>
                </a:solidFill>
              </a:defRPr>
            </a:pPr>
            <a:r>
              <a:t>3. Zero-Shot In-The-Wild Robustness:</a:t>
            </a:r>
          </a:p>
          <a:p>
            <a:pPr>
              <a:defRPr sz="950">
                <a:solidFill>
                  <a:srgbClr val="64748B"/>
                </a:solidFill>
              </a:defRPr>
            </a:pPr>
            <a:r>
              <a:t>Generalizes to background chatter, music, reverberation, and heavy regional accents without fine-tuning.</a:t>
            </a:r>
          </a:p>
        </p:txBody>
      </p:sp>
      <p:sp>
        <p:nvSpPr>
          <p:cNvPr id="6" name="Rounded Rectangle 5"/>
          <p:cNvSpPr/>
          <p:nvPr/>
        </p:nvSpPr>
        <p:spPr>
          <a:xfrm>
            <a:off x="6217920" y="1554480"/>
            <a:ext cx="5242255" cy="47548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0" y="1737360"/>
            <a:ext cx="4693615" cy="4389120"/>
          </a:xfrm>
          <a:prstGeom prst="rect">
            <a:avLst/>
          </a:prstGeom>
          <a:noFill/>
        </p:spPr>
        <p:txBody>
          <a:bodyPr wrap="square">
            <a:spAutoFit/>
          </a:bodyPr>
          <a:lstStyle/>
          <a:p>
            <a:pPr>
              <a:defRPr b="1" sz="1100">
                <a:solidFill>
                  <a:srgbClr val="2563EB"/>
                </a:solidFill>
              </a:defRPr>
            </a:pPr>
            <a:r>
              <a:t>MULTI-TASK TOKEN CONDITIONING &amp; SELF-SUPERVISION</a:t>
            </a:r>
          </a:p>
          <a:p>
            <a:pPr>
              <a:spcBef>
                <a:spcPts val="800"/>
              </a:spcBef>
              <a:defRPr b="1" sz="1050">
                <a:solidFill>
                  <a:srgbClr val="7C3AED"/>
                </a:solidFill>
              </a:defRPr>
            </a:pPr>
            <a:r>
              <a:t>■ Sequence-Level Token Prompting:</a:t>
            </a:r>
          </a:p>
          <a:p>
            <a:pPr>
              <a:defRPr sz="950">
                <a:solidFill>
                  <a:srgbClr val="0F172A"/>
                </a:solidFill>
              </a:defRPr>
            </a:pPr>
            <a:r>
              <a:t>Whisper controls task behavior via special prefix tokens:</a:t>
            </a:r>
            <a:br/>
            <a:r>
              <a:t>• &lt;|startoftranscript|&gt; &lt;|en|&gt; &lt;|transcribe|&gt; &lt;|notimestamps|&gt;</a:t>
            </a:r>
            <a:br/>
            <a:r>
              <a:t>• &lt;|es|&gt; &lt;|translate|&gt; (Directly translates Spanish audio into English text)</a:t>
            </a:r>
            <a:br/>
            <a:r>
              <a:t>• &lt;|0.00|&gt; Hello &lt;|1.20|&gt; (Provides sub-second subtitle alignment).</a:t>
            </a:r>
          </a:p>
          <a:p>
            <a:pPr>
              <a:spcBef>
                <a:spcPts val="800"/>
              </a:spcBef>
              <a:defRPr b="1" sz="1050">
                <a:solidFill>
                  <a:srgbClr val="7C3AED"/>
                </a:solidFill>
              </a:defRPr>
            </a:pPr>
            <a:r>
              <a:t>■ Self-Supervised Cousins (Wav2Vec 2.0 / HuBERT):</a:t>
            </a:r>
          </a:p>
          <a:p>
            <a:pPr>
              <a:defRPr sz="950">
                <a:solidFill>
                  <a:srgbClr val="0F172A"/>
                </a:solidFill>
              </a:defRPr>
            </a:pPr>
            <a:r>
              <a:t>Meta's Wav2Vec 2.0 and HuBERT mask raw audio frames in latent space, learning rich acoustic representations with zero human text annotations—acting as the 'BERT' of speech recognition.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1005840"/>
          </a:xfrm>
          <a:prstGeom prst="rect">
            <a:avLst/>
          </a:prstGeom>
          <a:noFill/>
        </p:spPr>
        <p:txBody>
          <a:bodyPr wrap="square" lIns="0" tIns="0" rIns="0" bIns="0">
            <a:spAutoFit/>
          </a:bodyPr>
          <a:lstStyle/>
          <a:p>
            <a:pPr>
              <a:defRPr sz="1000" b="1">
                <a:solidFill>
                  <a:srgbClr val="2563EB"/>
                </a:solidFill>
                <a:latin typeface="Calibri"/>
              </a:defRPr>
            </a:pPr>
            <a:r>
              <a:t>●  SLIDE 10 — NLP INTEGRATION &amp; DECODING</a:t>
            </a:r>
          </a:p>
          <a:p>
            <a:pPr>
              <a:spcBef>
                <a:spcPts val="300"/>
              </a:spcBef>
              <a:defRPr sz="2200" b="1">
                <a:solidFill>
                  <a:srgbClr val="0F172A"/>
                </a:solidFill>
                <a:latin typeface="Calibri"/>
              </a:defRPr>
            </a:pPr>
            <a:r>
              <a:t>Where NLP Meets STT: Language Models &amp; Post-Processing</a:t>
            </a:r>
          </a:p>
          <a:p>
            <a:pPr>
              <a:spcBef>
                <a:spcPts val="200"/>
              </a:spcBef>
              <a:defRPr sz="1100">
                <a:solidFill>
                  <a:srgbClr val="64748B"/>
                </a:solidFill>
                <a:latin typeface="Calibri"/>
              </a:defRPr>
            </a:pPr>
            <a:r>
              <a:t>Beam Search Fusion, Homophone Disambiguation &amp; Inverse Text Normalization (ITN)</a:t>
            </a:r>
          </a:p>
        </p:txBody>
      </p:sp>
      <p:sp>
        <p:nvSpPr>
          <p:cNvPr id="4" name="Rounded Rectangle 3"/>
          <p:cNvSpPr/>
          <p:nvPr/>
        </p:nvSpPr>
        <p:spPr>
          <a:xfrm>
            <a:off x="731520" y="1554480"/>
            <a:ext cx="5212080" cy="47548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737360"/>
            <a:ext cx="4663440" cy="4389120"/>
          </a:xfrm>
          <a:prstGeom prst="rect">
            <a:avLst/>
          </a:prstGeom>
          <a:noFill/>
        </p:spPr>
        <p:txBody>
          <a:bodyPr wrap="square">
            <a:spAutoFit/>
          </a:bodyPr>
          <a:lstStyle/>
          <a:p>
            <a:pPr>
              <a:defRPr b="1" sz="1100">
                <a:solidFill>
                  <a:srgbClr val="2563EB"/>
                </a:solidFill>
              </a:defRPr>
            </a:pPr>
            <a:r>
              <a:t>THE 4 CRUCIAL NLP ROLES IN STT</a:t>
            </a:r>
          </a:p>
          <a:p>
            <a:pPr>
              <a:spcBef>
                <a:spcPts val="600"/>
              </a:spcBef>
              <a:defRPr b="1" sz="1000">
                <a:solidFill>
                  <a:srgbClr val="1E3A8A"/>
                </a:solidFill>
              </a:defRPr>
            </a:pPr>
            <a:r>
              <a:t>1. Shallow &amp; Deep LM Fusion:</a:t>
            </a:r>
          </a:p>
          <a:p>
            <a:pPr>
              <a:defRPr sz="900">
                <a:solidFill>
                  <a:srgbClr val="64748B"/>
                </a:solidFill>
              </a:defRPr>
            </a:pPr>
            <a:r>
              <a:t>Fuses acoustic probability with language model prior during beam search: Score = log P_ASR(W|X) + alpha*log P_LM(W) + beta*|W|.</a:t>
            </a:r>
          </a:p>
          <a:p>
            <a:pPr>
              <a:spcBef>
                <a:spcPts val="600"/>
              </a:spcBef>
              <a:defRPr b="1" sz="1000">
                <a:solidFill>
                  <a:srgbClr val="1E3A8A"/>
                </a:solidFill>
              </a:defRPr>
            </a:pPr>
            <a:r>
              <a:t>2. Two-Pass LLM Rescoring:</a:t>
            </a:r>
          </a:p>
          <a:p>
            <a:pPr>
              <a:defRPr sz="900">
                <a:solidFill>
                  <a:srgbClr val="64748B"/>
                </a:solidFill>
              </a:defRPr>
            </a:pPr>
            <a:r>
              <a:t>ASR generates top-50 N-best hypotheses; a large language model (e.g. GPT/Llama) rescores them using global conversational context.</a:t>
            </a:r>
          </a:p>
          <a:p>
            <a:pPr>
              <a:spcBef>
                <a:spcPts val="600"/>
              </a:spcBef>
              <a:defRPr b="1" sz="1000">
                <a:solidFill>
                  <a:srgbClr val="1E3A8A"/>
                </a:solidFill>
              </a:defRPr>
            </a:pPr>
            <a:r>
              <a:t>3. Inverse Text Normalization (ITN):</a:t>
            </a:r>
          </a:p>
          <a:p>
            <a:pPr>
              <a:defRPr sz="900">
                <a:solidFill>
                  <a:srgbClr val="64748B"/>
                </a:solidFill>
              </a:defRPr>
            </a:pPr>
            <a:r>
              <a:t>Converts spoken forms to standard written representations: 'twenty five dollars' -&gt; '$25'; 'october twenty seventh' -&gt; '27/10'.</a:t>
            </a:r>
          </a:p>
          <a:p>
            <a:pPr>
              <a:spcBef>
                <a:spcPts val="600"/>
              </a:spcBef>
              <a:defRPr b="1" sz="1000">
                <a:solidFill>
                  <a:srgbClr val="1E3A8A"/>
                </a:solidFill>
              </a:defRPr>
            </a:pPr>
            <a:r>
              <a:t>4. Truecasing &amp; Punctuation Restoration:</a:t>
            </a:r>
          </a:p>
          <a:p>
            <a:pPr>
              <a:defRPr sz="900">
                <a:solidFill>
                  <a:srgbClr val="64748B"/>
                </a:solidFill>
              </a:defRPr>
            </a:pPr>
            <a:r>
              <a:t>Speech has no capitalization or periods. Neural sequence taggers insert commas, question marks, and sentence boundaries.</a:t>
            </a:r>
          </a:p>
        </p:txBody>
      </p:sp>
      <p:sp>
        <p:nvSpPr>
          <p:cNvPr id="6" name="Rounded Rectangle 5"/>
          <p:cNvSpPr/>
          <p:nvPr/>
        </p:nvSpPr>
        <p:spPr>
          <a:xfrm>
            <a:off x="6217920" y="1554480"/>
            <a:ext cx="5242255" cy="47548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0" y="1737360"/>
            <a:ext cx="4693615" cy="4389120"/>
          </a:xfrm>
          <a:prstGeom prst="rect">
            <a:avLst/>
          </a:prstGeom>
          <a:noFill/>
        </p:spPr>
        <p:txBody>
          <a:bodyPr wrap="square">
            <a:spAutoFit/>
          </a:bodyPr>
          <a:lstStyle/>
          <a:p>
            <a:pPr>
              <a:defRPr b="1" sz="1100">
                <a:solidFill>
                  <a:srgbClr val="2563EB"/>
                </a:solidFill>
              </a:defRPr>
            </a:pPr>
            <a:r>
              <a:t>HOMOPHONE DISAMBIGUATION &amp; CONTEXT</a:t>
            </a:r>
          </a:p>
          <a:p>
            <a:pPr>
              <a:spcBef>
                <a:spcPts val="800"/>
              </a:spcBef>
              <a:defRPr b="1" sz="1050">
                <a:solidFill>
                  <a:srgbClr val="059669"/>
                </a:solidFill>
              </a:defRPr>
            </a:pPr>
            <a:r>
              <a:t>■ Acoustic Model Likelihood P(Audio | W):</a:t>
            </a:r>
          </a:p>
          <a:p>
            <a:pPr>
              <a:defRPr sz="950">
                <a:solidFill>
                  <a:srgbClr val="0F172A"/>
                </a:solidFill>
              </a:defRPr>
            </a:pPr>
            <a:r>
              <a:t>Identical acoustic phoneme streams have equal likelihood:</a:t>
            </a:r>
            <a:br/>
            <a:r>
              <a:t>P(Audio | 'their') == P(Audio | 'there') == P(Audio | 'they're').</a:t>
            </a:r>
          </a:p>
          <a:p>
            <a:pPr>
              <a:spcBef>
                <a:spcPts val="800"/>
              </a:spcBef>
              <a:defRPr b="1" sz="1050">
                <a:solidFill>
                  <a:srgbClr val="059669"/>
                </a:solidFill>
              </a:defRPr>
            </a:pPr>
            <a:r>
              <a:t>■ NLP Language Model Prior P(W):</a:t>
            </a:r>
          </a:p>
          <a:p>
            <a:pPr>
              <a:defRPr sz="950">
                <a:solidFill>
                  <a:srgbClr val="0F172A"/>
                </a:solidFill>
              </a:defRPr>
            </a:pPr>
            <a:r>
              <a:t>Context: '...submitting ___ research paper today.'</a:t>
            </a:r>
            <a:br/>
            <a:r>
              <a:t>• P('their' | context) = 96.8%</a:t>
            </a:r>
            <a:br/>
            <a:r>
              <a:t>• P('there') = 2.1%</a:t>
            </a:r>
            <a:br/>
            <a:r>
              <a:t>• P('they're') = 1.1%</a:t>
            </a:r>
          </a:p>
          <a:p>
            <a:pPr>
              <a:spcBef>
                <a:spcPts val="800"/>
              </a:spcBef>
              <a:defRPr b="1" sz="1050">
                <a:solidFill>
                  <a:srgbClr val="059669"/>
                </a:solidFill>
              </a:defRPr>
            </a:pPr>
            <a:r>
              <a:t>■ Decision Rule Output:</a:t>
            </a:r>
          </a:p>
          <a:p>
            <a:pPr>
              <a:defRPr sz="950">
                <a:solidFill>
                  <a:srgbClr val="0F172A"/>
                </a:solidFill>
              </a:defRPr>
            </a:pPr>
            <a:r>
              <a:t>Winner: 'their' selected via argmax [ P(Audio|W) * P(W) ]. NLP provides the syntactic and semantic intelligence.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1005840"/>
          </a:xfrm>
          <a:prstGeom prst="rect">
            <a:avLst/>
          </a:prstGeom>
          <a:noFill/>
        </p:spPr>
        <p:txBody>
          <a:bodyPr wrap="square" lIns="0" tIns="0" rIns="0" bIns="0">
            <a:spAutoFit/>
          </a:bodyPr>
          <a:lstStyle/>
          <a:p>
            <a:pPr>
              <a:defRPr sz="1000" b="1">
                <a:solidFill>
                  <a:srgbClr val="2563EB"/>
                </a:solidFill>
                <a:latin typeface="Calibri"/>
              </a:defRPr>
            </a:pPr>
            <a:r>
              <a:t>●  SLIDE 11 — EVALUATION &amp; CHALLENGES</a:t>
            </a:r>
          </a:p>
          <a:p>
            <a:pPr>
              <a:spcBef>
                <a:spcPts val="300"/>
              </a:spcBef>
              <a:defRPr sz="2200" b="1">
                <a:solidFill>
                  <a:srgbClr val="0F172A"/>
                </a:solidFill>
                <a:latin typeface="Calibri"/>
              </a:defRPr>
            </a:pPr>
            <a:r>
              <a:t>Evaluation Metrics &amp; Real-World Challenges</a:t>
            </a:r>
          </a:p>
          <a:p>
            <a:pPr>
              <a:spcBef>
                <a:spcPts val="200"/>
              </a:spcBef>
              <a:defRPr sz="1100">
                <a:solidFill>
                  <a:srgbClr val="64748B"/>
                </a:solidFill>
                <a:latin typeface="Calibri"/>
              </a:defRPr>
            </a:pPr>
            <a:r>
              <a:t>Word Error Rate (WER), Real-Time Factor (RTF), Diarization &amp; The Cocktail Party Problem</a:t>
            </a:r>
          </a:p>
        </p:txBody>
      </p:sp>
      <p:sp>
        <p:nvSpPr>
          <p:cNvPr id="4" name="Rounded Rectangle 3"/>
          <p:cNvSpPr/>
          <p:nvPr/>
        </p:nvSpPr>
        <p:spPr>
          <a:xfrm>
            <a:off x="731520" y="1554480"/>
            <a:ext cx="5212080" cy="47548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737360"/>
            <a:ext cx="4663440" cy="4389120"/>
          </a:xfrm>
          <a:prstGeom prst="rect">
            <a:avLst/>
          </a:prstGeom>
          <a:noFill/>
        </p:spPr>
        <p:txBody>
          <a:bodyPr wrap="square">
            <a:spAutoFit/>
          </a:bodyPr>
          <a:lstStyle/>
          <a:p>
            <a:pPr>
              <a:defRPr b="1" sz="1100">
                <a:solidFill>
                  <a:srgbClr val="2563EB"/>
                </a:solidFill>
              </a:defRPr>
            </a:pPr>
            <a:r>
              <a:t>STANDARD EVALUATION METRICS</a:t>
            </a:r>
          </a:p>
          <a:p>
            <a:pPr>
              <a:spcBef>
                <a:spcPts val="800"/>
              </a:spcBef>
              <a:defRPr b="1" sz="1050">
                <a:solidFill>
                  <a:srgbClr val="1E3A8A"/>
                </a:solidFill>
              </a:defRPr>
            </a:pPr>
            <a:r>
              <a:t>Word Error Rate (WER):</a:t>
            </a:r>
          </a:p>
          <a:p>
            <a:pPr>
              <a:defRPr sz="950">
                <a:solidFill>
                  <a:srgbClr val="64748B"/>
                </a:solidFill>
              </a:defRPr>
            </a:pPr>
            <a:r>
              <a:t>Computed via Levenshtein dynamic programming alignment:</a:t>
            </a:r>
            <a:br/>
            <a:r>
              <a:t>WER = [ (S + D + I) / N ] * 100%</a:t>
            </a:r>
            <a:br/>
            <a:r>
              <a:t>• S: Substitutions (wrong word)</a:t>
            </a:r>
            <a:br/>
            <a:r>
              <a:t>• D: Deletions (missed word)</a:t>
            </a:r>
            <a:br/>
            <a:r>
              <a:t>• I: Insertions (hallucinated extra word)</a:t>
            </a:r>
            <a:br/>
            <a:r>
              <a:t>• N: Reference word count.</a:t>
            </a:r>
          </a:p>
          <a:p>
            <a:pPr>
              <a:spcBef>
                <a:spcPts val="800"/>
              </a:spcBef>
              <a:defRPr b="1" sz="1050">
                <a:solidFill>
                  <a:srgbClr val="1E3A8A"/>
                </a:solidFill>
              </a:defRPr>
            </a:pPr>
            <a:r>
              <a:t>Real-Time Factor (RTF):</a:t>
            </a:r>
          </a:p>
          <a:p>
            <a:pPr>
              <a:defRPr sz="950">
                <a:solidFill>
                  <a:srgbClr val="64748B"/>
                </a:solidFill>
              </a:defRPr>
            </a:pPr>
            <a:r>
              <a:t>RTF = Processing Time / Audio Duration. If 10s audio takes 2s to transcribe, RTF = 0.2. Real-time streaming requires RTF &lt;= 1.0.</a:t>
            </a:r>
          </a:p>
          <a:p>
            <a:pPr>
              <a:spcBef>
                <a:spcPts val="800"/>
              </a:spcBef>
              <a:defRPr b="1" sz="1050">
                <a:solidFill>
                  <a:srgbClr val="1E3A8A"/>
                </a:solidFill>
              </a:defRPr>
            </a:pPr>
            <a:r>
              <a:t>Character Error Rate (CER):</a:t>
            </a:r>
          </a:p>
          <a:p>
            <a:pPr>
              <a:defRPr sz="950">
                <a:solidFill>
                  <a:srgbClr val="64748B"/>
                </a:solidFill>
              </a:defRPr>
            </a:pPr>
            <a:r>
              <a:t>Standard metric for non-segmented and tonal languages (Mandarin, Japanese, Cantonese).</a:t>
            </a:r>
          </a:p>
        </p:txBody>
      </p:sp>
      <p:sp>
        <p:nvSpPr>
          <p:cNvPr id="6" name="Rounded Rectangle 5"/>
          <p:cNvSpPr/>
          <p:nvPr/>
        </p:nvSpPr>
        <p:spPr>
          <a:xfrm>
            <a:off x="6217920" y="1554480"/>
            <a:ext cx="5242255" cy="47548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0" y="1737360"/>
            <a:ext cx="4693615" cy="4389120"/>
          </a:xfrm>
          <a:prstGeom prst="rect">
            <a:avLst/>
          </a:prstGeom>
          <a:noFill/>
        </p:spPr>
        <p:txBody>
          <a:bodyPr wrap="square">
            <a:spAutoFit/>
          </a:bodyPr>
          <a:lstStyle/>
          <a:p>
            <a:pPr>
              <a:defRPr b="1" sz="1100">
                <a:solidFill>
                  <a:srgbClr val="2563EB"/>
                </a:solidFill>
              </a:defRPr>
            </a:pPr>
            <a:r>
              <a:t>REAL-WORLD PRODUCTION CHALLENGES</a:t>
            </a:r>
          </a:p>
          <a:p>
            <a:pPr>
              <a:spcBef>
                <a:spcPts val="800"/>
              </a:spcBef>
              <a:defRPr b="1" sz="1050">
                <a:solidFill>
                  <a:srgbClr val="D97706"/>
                </a:solidFill>
              </a:defRPr>
            </a:pPr>
            <a:r>
              <a:t>■ The Cocktail Party Problem:</a:t>
            </a:r>
          </a:p>
          <a:p>
            <a:pPr>
              <a:defRPr sz="950">
                <a:solidFill>
                  <a:srgbClr val="0F172A"/>
                </a:solidFill>
              </a:defRPr>
            </a:pPr>
            <a:r>
              <a:t>Multiple speakers talking at once. Requires blind source separation and beamforming microphone arrays to isolate target voice.</a:t>
            </a:r>
          </a:p>
          <a:p>
            <a:pPr>
              <a:spcBef>
                <a:spcPts val="800"/>
              </a:spcBef>
              <a:defRPr b="1" sz="1050">
                <a:solidFill>
                  <a:srgbClr val="D97706"/>
                </a:solidFill>
              </a:defRPr>
            </a:pPr>
            <a:r>
              <a:t>■ Speaker Diarization ('Who Spoke When'):</a:t>
            </a:r>
          </a:p>
          <a:p>
            <a:pPr>
              <a:defRPr sz="950">
                <a:solidFill>
                  <a:srgbClr val="0F172A"/>
                </a:solidFill>
              </a:defRPr>
            </a:pPr>
            <a:r>
              <a:t>Clustering speaker voice embeddings (x-vectors) to assign distinct speaker labels in multi-party conference meetings.</a:t>
            </a:r>
          </a:p>
          <a:p>
            <a:pPr>
              <a:spcBef>
                <a:spcPts val="800"/>
              </a:spcBef>
              <a:defRPr b="1" sz="1050">
                <a:solidFill>
                  <a:srgbClr val="D97706"/>
                </a:solidFill>
              </a:defRPr>
            </a:pPr>
            <a:r>
              <a:t>■ Code-Switching &amp; Dialects:</a:t>
            </a:r>
          </a:p>
          <a:p>
            <a:pPr>
              <a:defRPr sz="950">
                <a:solidFill>
                  <a:srgbClr val="0F172A"/>
                </a:solidFill>
              </a:defRPr>
            </a:pPr>
            <a:r>
              <a:t>Speakers seamlessly switching between two languages in one sentence (e.g. Hinglish). Traditional single-language lexicons fail.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1005840"/>
          </a:xfrm>
          <a:prstGeom prst="rect">
            <a:avLst/>
          </a:prstGeom>
          <a:noFill/>
        </p:spPr>
        <p:txBody>
          <a:bodyPr wrap="square" lIns="0" tIns="0" rIns="0" bIns="0">
            <a:spAutoFit/>
          </a:bodyPr>
          <a:lstStyle/>
          <a:p>
            <a:pPr>
              <a:defRPr sz="1000" b="1">
                <a:solidFill>
                  <a:srgbClr val="2563EB"/>
                </a:solidFill>
                <a:latin typeface="Calibri"/>
              </a:defRPr>
            </a:pPr>
            <a:r>
              <a:t>●  SLIDE 12 — SUMMARY &amp; FRONTIERS</a:t>
            </a:r>
          </a:p>
          <a:p>
            <a:pPr>
              <a:spcBef>
                <a:spcPts val="300"/>
              </a:spcBef>
              <a:defRPr sz="2200" b="1">
                <a:solidFill>
                  <a:srgbClr val="0F172A"/>
                </a:solidFill>
                <a:latin typeface="Calibri"/>
              </a:defRPr>
            </a:pPr>
            <a:r>
              <a:t>The Grand Mental Model &amp; Future Horizons</a:t>
            </a:r>
          </a:p>
          <a:p>
            <a:pPr>
              <a:spcBef>
                <a:spcPts val="200"/>
              </a:spcBef>
              <a:defRPr sz="1100">
                <a:solidFill>
                  <a:srgbClr val="64748B"/>
                </a:solidFill>
                <a:latin typeface="Calibri"/>
              </a:defRPr>
            </a:pPr>
            <a:r>
              <a:t>Synthesizing the Complete ASR Pipeline &amp; Emerging Frontiers in Speech AI</a:t>
            </a:r>
          </a:p>
        </p:txBody>
      </p:sp>
      <p:sp>
        <p:nvSpPr>
          <p:cNvPr id="4" name="Rounded Rectangle 3"/>
          <p:cNvSpPr/>
          <p:nvPr/>
        </p:nvSpPr>
        <p:spPr>
          <a:xfrm>
            <a:off x="731520" y="1554480"/>
            <a:ext cx="5212080" cy="47548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737360"/>
            <a:ext cx="4663440" cy="4389120"/>
          </a:xfrm>
          <a:prstGeom prst="rect">
            <a:avLst/>
          </a:prstGeom>
          <a:noFill/>
        </p:spPr>
        <p:txBody>
          <a:bodyPr wrap="square">
            <a:spAutoFit/>
          </a:bodyPr>
          <a:lstStyle/>
          <a:p>
            <a:pPr>
              <a:defRPr b="1" sz="1100">
                <a:solidFill>
                  <a:srgbClr val="2563EB"/>
                </a:solidFill>
              </a:defRPr>
            </a:pPr>
            <a:r>
              <a:t>THE 6 STAGES OF THE ASR PIPELINE</a:t>
            </a:r>
          </a:p>
          <a:p>
            <a:pPr>
              <a:spcBef>
                <a:spcPts val="500"/>
              </a:spcBef>
              <a:defRPr sz="1000">
                <a:solidFill>
                  <a:srgbClr val="0F172A"/>
                </a:solidFill>
              </a:defRPr>
            </a:pPr>
            <a:r>
              <a:t>1. Physics: 16 kHz sampling &amp; 16-bit linear PCM quantization.</a:t>
            </a:r>
          </a:p>
          <a:p>
            <a:pPr>
              <a:spcBef>
                <a:spcPts val="500"/>
              </a:spcBef>
              <a:defRPr sz="1000">
                <a:solidFill>
                  <a:srgbClr val="0F172A"/>
                </a:solidFill>
              </a:defRPr>
            </a:pPr>
            <a:r>
              <a:t>2. Features: 25ms STFT &amp; 80-channel log-mel filterbanks.</a:t>
            </a:r>
          </a:p>
          <a:p>
            <a:pPr>
              <a:spcBef>
                <a:spcPts val="500"/>
              </a:spcBef>
              <a:defRPr sz="1000">
                <a:solidFill>
                  <a:srgbClr val="0F172A"/>
                </a:solidFill>
              </a:defRPr>
            </a:pPr>
            <a:r>
              <a:t>3. Neural Encoder: Conformer / Whisper multi-head self-attention.</a:t>
            </a:r>
          </a:p>
          <a:p>
            <a:pPr>
              <a:spcBef>
                <a:spcPts val="500"/>
              </a:spcBef>
              <a:defRPr sz="1000">
                <a:solidFill>
                  <a:srgbClr val="0F172A"/>
                </a:solidFill>
              </a:defRPr>
            </a:pPr>
            <a:r>
              <a:t>4. Alignment: CTC loss &amp; autoregressive cross-attention.</a:t>
            </a:r>
          </a:p>
          <a:p>
            <a:pPr>
              <a:spcBef>
                <a:spcPts val="500"/>
              </a:spcBef>
              <a:defRPr sz="1000">
                <a:solidFill>
                  <a:srgbClr val="0F172A"/>
                </a:solidFill>
              </a:defRPr>
            </a:pPr>
            <a:r>
              <a:t>5. NLP Prior: Beam search with language model fusion &amp; homophone resolution.</a:t>
            </a:r>
          </a:p>
          <a:p>
            <a:pPr>
              <a:spcBef>
                <a:spcPts val="500"/>
              </a:spcBef>
              <a:defRPr sz="1000">
                <a:solidFill>
                  <a:srgbClr val="0F172A"/>
                </a:solidFill>
              </a:defRPr>
            </a:pPr>
            <a:r>
              <a:t>6. Output: Inverse text normalization &amp; punctuation restoration.</a:t>
            </a:r>
          </a:p>
        </p:txBody>
      </p:sp>
      <p:sp>
        <p:nvSpPr>
          <p:cNvPr id="6" name="Rounded Rectangle 5"/>
          <p:cNvSpPr/>
          <p:nvPr/>
        </p:nvSpPr>
        <p:spPr>
          <a:xfrm>
            <a:off x="6217920" y="1554480"/>
            <a:ext cx="5242255" cy="475488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0" y="1737360"/>
            <a:ext cx="4693615" cy="4389120"/>
          </a:xfrm>
          <a:prstGeom prst="rect">
            <a:avLst/>
          </a:prstGeom>
          <a:noFill/>
        </p:spPr>
        <p:txBody>
          <a:bodyPr wrap="square">
            <a:spAutoFit/>
          </a:bodyPr>
          <a:lstStyle/>
          <a:p>
            <a:pPr>
              <a:defRPr b="1" sz="1100">
                <a:solidFill>
                  <a:srgbClr val="2563EB"/>
                </a:solidFill>
              </a:defRPr>
            </a:pPr>
            <a:r>
              <a:t>EMERGING FRONTIERS IN SPEECH AI</a:t>
            </a:r>
          </a:p>
          <a:p>
            <a:pPr>
              <a:spcBef>
                <a:spcPts val="600"/>
              </a:spcBef>
              <a:defRPr b="1" sz="1000">
                <a:solidFill>
                  <a:srgbClr val="059669"/>
                </a:solidFill>
              </a:defRPr>
            </a:pPr>
            <a:r>
              <a:t>★ Universal Zero-Shot Multilingualism:</a:t>
            </a:r>
          </a:p>
          <a:p>
            <a:pPr>
              <a:defRPr sz="950">
                <a:solidFill>
                  <a:srgbClr val="0F172A"/>
                </a:solidFill>
              </a:defRPr>
            </a:pPr>
            <a:r>
              <a:t>Single models transcribing and translating 1,000+ low-resource languages with minimal labeled data (Meta MMS project).</a:t>
            </a:r>
          </a:p>
          <a:p>
            <a:pPr>
              <a:spcBef>
                <a:spcPts val="600"/>
              </a:spcBef>
              <a:defRPr b="1" sz="1000">
                <a:solidFill>
                  <a:srgbClr val="059669"/>
                </a:solidFill>
              </a:defRPr>
            </a:pPr>
            <a:r>
              <a:t>★ Ultra-Low Latency On-Device NPU Speech:</a:t>
            </a:r>
          </a:p>
          <a:p>
            <a:pPr>
              <a:defRPr sz="950">
                <a:solidFill>
                  <a:srgbClr val="0F172A"/>
                </a:solidFill>
              </a:defRPr>
            </a:pPr>
            <a:r>
              <a:t>Quantized edge models operating on mobile silicon with sub-50ms latency and zero server reliance.</a:t>
            </a:r>
          </a:p>
          <a:p>
            <a:pPr>
              <a:spcBef>
                <a:spcPts val="600"/>
              </a:spcBef>
              <a:defRPr b="1" sz="1000">
                <a:solidFill>
                  <a:srgbClr val="059669"/>
                </a:solidFill>
              </a:defRPr>
            </a:pPr>
            <a:r>
              <a:t>★ Paralinguistics &amp; Non-Verbal Voice AI:</a:t>
            </a:r>
          </a:p>
          <a:p>
            <a:pPr>
              <a:defRPr sz="950">
                <a:solidFill>
                  <a:srgbClr val="0F172A"/>
                </a:solidFill>
              </a:defRPr>
            </a:pPr>
            <a:r>
              <a:t>Detecting emotion, sarcasm, hesitation, and medical vocal biomarkers (cough, breathiness, vocal fatigue).</a:t>
            </a:r>
          </a:p>
          <a:p>
            <a:br/>
            <a:pPr algn="ctr">
              <a:defRPr b="1" sz="1600">
                <a:solidFill>
                  <a:srgbClr val="2563EB"/>
                </a:solidFill>
              </a:defRPr>
            </a:pPr>
            <a:r>
              <a:t>Thank You!  Questions &amp; Discussion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