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“Respected Professor and friends, I am Prasad Anil Kankhar from the Department of Computer Science and Engineering at Maharashtra Institute of Technology. Today, I am going to explain Speech to Text Conversion in Natural Language Processing. We will explore how continuous acoustic sound waves are digitized, extracted into acoustic features, decoded into phonemes, and finally transcribed into grammatically correct text.”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core of speech recognition is Bayes’ Decision Rule. Given an acoustic signal X, we search for the word sequence W that maximizes the posterior probability P(W|X). Using Bayes’ theorem, this factors into two distinct components: P(X|W), the Acoustic Model, which measures how well the sounds match the words, and P(W), the Language Model, which measures how natural the sentence is in English. This is crucial for homophones: ‘recognize speech’ and ‘wreck a nice beach’ sound identical, but our NLP language model assigns thousands of times higher probability to ‘recognize speech’.”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audio signals cannot be fed directly into classifiers because air pressure amplitudes fluctuate rapidly. Instead, we extract Mel-Frequency Cepstral Coefficients (MFCCs). First, we pre-emphasize high frequencies. Then, because speech is quasi-stationary only over short intervals, we chop audio into 25 millisecond frames every 10 milliseconds. Applying a Fast Fourier Transform and warping frequencies onto the perceptual Mel scale simulates human cochlear biology. Finally, a Discrete Cosine Transform yields 39 compact features that capture phoneme transitions.”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“Historically, ASR relied on a modular triad: the Acoustic Model, the Pronunciation Lexicon, and the Language Model, integrated via Viterbi beam search. However, errors cascaded: if the acoustic model failed, the whole system collapsed. Today, modern speech recognition has shifted to End-to-End deep neural networks, such as Conformer and OpenAI Whisper. These models map raw log-mel spectrograms directly into subword text tokens using self-attention, eliminating phonetic dictionaries entirely and learning syntax implicitly.”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evaluate an ASR system, we calculate the Word Error Rate (WER) using dynamic programming alignment. WER equals the sum of substitutions, deletions, and insertions divided by the total number of reference words. A lower WER indicates superior performance. In decoding, greedy search picks the best token at each frame, whereas Beam Search keeps multiple plausible transcriptions in memory. State-of-the-art E2E architectures like Conformer and Whisper have pushed clean speech WER down to near-human levels of 2 to 3 percent.”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Speech to Text conversion brings together the physics of acoustics, digital signal processing via MFCCs, and NLP language modeling to accurately transcribe human speech. The field has evolved from complex multi-stage HMM pipelines into powerful unified Transformer architectures. Emerging research is now focusing on edge deployment, multilingual speech translation, and understanding emotional tone. Thank you for your time, and I am now happy to take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000" b="1">
                <a:solidFill>
                  <a:srgbClr val="2563EB"/>
                </a:solidFill>
                <a:latin typeface="Calibri"/>
              </a:defRPr>
            </a:pPr>
            <a:r>
              <a:t>●  SLIDE 01 — TITLE SLIDE</a:t>
            </a:r>
          </a:p>
          <a:p>
            <a:pPr>
              <a:spcBef>
                <a:spcPts val="300"/>
              </a:spcBef>
              <a:defRPr sz="2200" b="1">
                <a:solidFill>
                  <a:srgbClr val="0F172A"/>
                </a:solidFill>
                <a:latin typeface="Calibri"/>
              </a:defRPr>
            </a:pPr>
            <a:r>
              <a:t>Speech to Text Conversion</a:t>
            </a:r>
          </a:p>
          <a:p>
            <a:pPr>
              <a:spcBef>
                <a:spcPts val="200"/>
              </a:spcBef>
              <a:defRPr sz="1100">
                <a:solidFill>
                  <a:srgbClr val="64748B"/>
                </a:solidFill>
                <a:latin typeface="Calibri"/>
              </a:defRPr>
            </a:pPr>
            <a:r>
              <a:t>Automatic Speech Recognition (ASR) &amp; Natural Language Processing (NLP)</a:t>
            </a:r>
          </a:p>
        </p:txBody>
      </p:sp>
      <p:sp>
        <p:nvSpPr>
          <p:cNvPr id="4" name="Rounded Rectangle 3"/>
          <p:cNvSpPr/>
          <p:nvPr/>
        </p:nvSpPr>
        <p:spPr>
          <a:xfrm>
            <a:off x="731520" y="1554480"/>
            <a:ext cx="5212080" cy="47548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737360"/>
            <a:ext cx="4663440" cy="4389120"/>
          </a:xfrm>
          <a:prstGeom prst="rect">
            <a:avLst/>
          </a:prstGeom>
          <a:noFill/>
        </p:spPr>
        <p:txBody>
          <a:bodyPr wrap="square">
            <a:spAutoFit/>
          </a:bodyPr>
          <a:lstStyle/>
          <a:p>
            <a:pPr>
              <a:defRPr sz="1000" b="1">
                <a:solidFill>
                  <a:srgbClr val="1E3A8A"/>
                </a:solidFill>
                <a:latin typeface="Calibri"/>
              </a:defRPr>
            </a:pPr>
            <a:r>
              <a:t>G.S. Mandal's Maharashtra Institute of Technology, Chhatrapati Sambhajinagar</a:t>
            </a:r>
          </a:p>
          <a:p>
            <a:pPr>
              <a:spcAft>
                <a:spcPts val="1400"/>
              </a:spcAft>
              <a:defRPr sz="1100" b="1">
                <a:solidFill>
                  <a:srgbClr val="2563EB"/>
                </a:solidFill>
                <a:latin typeface="Calibri"/>
              </a:defRPr>
            </a:pPr>
            <a:r>
              <a:t>Department of Computer Science and Engineering</a:t>
            </a:r>
          </a:p>
          <a:p>
            <a:pPr>
              <a:defRPr sz="2600" b="1">
                <a:solidFill>
                  <a:srgbClr val="0F172A"/>
                </a:solidFill>
                <a:latin typeface="Calibri"/>
              </a:defRPr>
            </a:pPr>
            <a:r>
              <a:t>Speech to Text Conversion</a:t>
            </a:r>
          </a:p>
          <a:p>
            <a:pPr>
              <a:spcAft>
                <a:spcPts val="2000"/>
              </a:spcAft>
              <a:defRPr sz="1200">
                <a:solidFill>
                  <a:srgbClr val="64748B"/>
                </a:solidFill>
                <a:latin typeface="Calibri"/>
              </a:defRPr>
            </a:pPr>
            <a:r>
              <a:t>Foundations, Feature Engineering, Deep Architectures &amp; Decoding</a:t>
            </a:r>
          </a:p>
          <a:p>
            <a:pPr>
              <a:spcBef>
                <a:spcPts val="400"/>
              </a:spcBef>
              <a:defRPr b="1" sz="1100">
                <a:solidFill>
                  <a:srgbClr val="64748B"/>
                </a:solidFill>
              </a:defRPr>
            </a:pPr>
            <a:r>
              <a:t>Course:  </a:t>
            </a:r>
            <a:r>
              <a:rPr b="0">
                <a:solidFill>
                  <a:srgbClr val="0F172A"/>
                </a:solidFill>
              </a:rPr>
              <a:t>Natural Language Processing (NLP / CSE402)</a:t>
            </a:r>
          </a:p>
          <a:p>
            <a:pPr>
              <a:spcBef>
                <a:spcPts val="400"/>
              </a:spcBef>
              <a:defRPr b="1" sz="1100">
                <a:solidFill>
                  <a:srgbClr val="64748B"/>
                </a:solidFill>
              </a:defRPr>
            </a:pPr>
            <a:r>
              <a:t>Academic Year:  </a:t>
            </a:r>
            <a:r>
              <a:rPr b="0">
                <a:solidFill>
                  <a:srgbClr val="0F172A"/>
                </a:solidFill>
              </a:rPr>
              <a:t>2026–27</a:t>
            </a:r>
          </a:p>
          <a:p>
            <a:pPr>
              <a:spcBef>
                <a:spcPts val="400"/>
              </a:spcBef>
              <a:defRPr b="1" sz="1100">
                <a:solidFill>
                  <a:srgbClr val="1E3A8A"/>
                </a:solidFill>
              </a:defRPr>
            </a:pPr>
            <a:r>
              <a:t>Presented by:  </a:t>
            </a:r>
            <a:r>
              <a:rPr b="1">
                <a:solidFill>
                  <a:srgbClr val="2563EB"/>
                </a:solidFill>
              </a:rPr>
              <a:t>Prasad Anil Kankhar</a:t>
            </a:r>
          </a:p>
          <a:p>
            <a:pPr>
              <a:spcBef>
                <a:spcPts val="400"/>
              </a:spcBef>
              <a:defRPr b="1" sz="1100">
                <a:solidFill>
                  <a:srgbClr val="64748B"/>
                </a:solidFill>
              </a:defRPr>
            </a:pPr>
            <a:r>
              <a:t>Class:  </a:t>
            </a:r>
            <a:r>
              <a:rPr b="0">
                <a:solidFill>
                  <a:srgbClr val="0F172A"/>
                </a:solidFill>
              </a:rPr>
              <a:t>B.Tech Computer Science and Engineering</a:t>
            </a:r>
          </a:p>
        </p:txBody>
      </p:sp>
      <p:sp>
        <p:nvSpPr>
          <p:cNvPr id="6" name="Rounded Rectangle 5"/>
          <p:cNvSpPr/>
          <p:nvPr/>
        </p:nvSpPr>
        <p:spPr>
          <a:xfrm>
            <a:off x="6217920" y="1554480"/>
            <a:ext cx="5242255" cy="47548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737360"/>
            <a:ext cx="4693615" cy="4389120"/>
          </a:xfrm>
          <a:prstGeom prst="rect">
            <a:avLst/>
          </a:prstGeom>
          <a:noFill/>
        </p:spPr>
        <p:txBody>
          <a:bodyPr wrap="square">
            <a:spAutoFit/>
          </a:bodyPr>
          <a:lstStyle/>
          <a:p>
            <a:pPr>
              <a:defRPr b="1" sz="1100">
                <a:solidFill>
                  <a:srgbClr val="2563EB"/>
                </a:solidFill>
              </a:defRPr>
            </a:pPr>
            <a:r>
              <a:t>BRIDGING HUMAN VOICE &amp; MACHINE TEXT</a:t>
            </a:r>
          </a:p>
          <a:p>
            <a:pPr>
              <a:spcAft>
                <a:spcPts val="1400"/>
              </a:spcAft>
              <a:defRPr sz="1100">
                <a:solidFill>
                  <a:srgbClr val="64748B"/>
                </a:solidFill>
              </a:defRPr>
            </a:pPr>
            <a:r>
              <a:t>How continuous air pressure vibrations transform into discrete linguistic tokens:</a:t>
            </a:r>
          </a:p>
          <a:p>
            <a:pPr>
              <a:spcBef>
                <a:spcPts val="800"/>
              </a:spcBef>
              <a:defRPr b="1" sz="1100">
                <a:solidFill>
                  <a:srgbClr val="D97706"/>
                </a:solidFill>
              </a:defRPr>
            </a:pPr>
            <a:r>
              <a:t>■  1. Acoustic Audio Signal</a:t>
            </a:r>
          </a:p>
          <a:p>
            <a:pPr>
              <a:defRPr sz="1000">
                <a:solidFill>
                  <a:srgbClr val="0F172A"/>
                </a:solidFill>
              </a:defRPr>
            </a:pPr>
            <a:r>
              <a:t>    Continuous sound wave captured via microphone (16 kHz, 16-bit PCM).</a:t>
            </a:r>
          </a:p>
          <a:p>
            <a:pPr>
              <a:spcBef>
                <a:spcPts val="800"/>
              </a:spcBef>
              <a:defRPr b="1" sz="1100">
                <a:solidFill>
                  <a:srgbClr val="2563EB"/>
                </a:solidFill>
              </a:defRPr>
            </a:pPr>
            <a:r>
              <a:t>■  2. Feature Extraction (MFCC)</a:t>
            </a:r>
          </a:p>
          <a:p>
            <a:pPr>
              <a:defRPr sz="1000">
                <a:solidFill>
                  <a:srgbClr val="0F172A"/>
                </a:solidFill>
              </a:defRPr>
            </a:pPr>
            <a:r>
              <a:t>    Divided into 25ms frames; computes spectral energy via 80 Mel filterbanks.</a:t>
            </a:r>
          </a:p>
          <a:p>
            <a:pPr>
              <a:spcBef>
                <a:spcPts val="800"/>
              </a:spcBef>
              <a:defRPr b="1" sz="1100">
                <a:solidFill>
                  <a:srgbClr val="7C3AED"/>
                </a:solidFill>
              </a:defRPr>
            </a:pPr>
            <a:r>
              <a:t>■  3. Acoustic Modeling</a:t>
            </a:r>
          </a:p>
          <a:p>
            <a:pPr>
              <a:defRPr sz="1000">
                <a:solidFill>
                  <a:srgbClr val="0F172A"/>
                </a:solidFill>
              </a:defRPr>
            </a:pPr>
            <a:r>
              <a:t>    Maps spectral vectors to phoneme likelihoods / sub-word probability matrices.</a:t>
            </a:r>
          </a:p>
          <a:p>
            <a:pPr>
              <a:spcBef>
                <a:spcPts val="800"/>
              </a:spcBef>
              <a:defRPr b="1" sz="1100">
                <a:solidFill>
                  <a:srgbClr val="059669"/>
                </a:solidFill>
              </a:defRPr>
            </a:pPr>
            <a:r>
              <a:t>■  4. Language Decoding (NLP)</a:t>
            </a:r>
          </a:p>
          <a:p>
            <a:pPr>
              <a:defRPr sz="1000">
                <a:solidFill>
                  <a:srgbClr val="0F172A"/>
                </a:solidFill>
              </a:defRPr>
            </a:pPr>
            <a:r>
              <a:t>    Applies vocabulary lexicon, N-gram / Neural LM to generate punctuated text.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000" b="1">
                <a:solidFill>
                  <a:srgbClr val="2563EB"/>
                </a:solidFill>
                <a:latin typeface="Calibri"/>
              </a:defRPr>
            </a:pPr>
            <a:r>
              <a:t>●  SLIDE 02 — INTRODUCTION &amp; BAYESIAN DECISION RULE</a:t>
            </a:r>
          </a:p>
          <a:p>
            <a:pPr>
              <a:spcBef>
                <a:spcPts val="300"/>
              </a:spcBef>
              <a:defRPr sz="2200" b="1">
                <a:solidFill>
                  <a:srgbClr val="0F172A"/>
                </a:solidFill>
                <a:latin typeface="Calibri"/>
              </a:defRPr>
            </a:pPr>
            <a:r>
              <a:t>The Mathematical Formulation of ASR</a:t>
            </a:r>
          </a:p>
          <a:p>
            <a:pPr>
              <a:spcBef>
                <a:spcPts val="200"/>
              </a:spcBef>
              <a:defRPr sz="1100">
                <a:solidFill>
                  <a:srgbClr val="64748B"/>
                </a:solidFill>
                <a:latin typeface="Calibri"/>
              </a:defRPr>
            </a:pPr>
            <a:r>
              <a:t>Balancing Acoustic Evidence and Language Context to Resolve Ambiguity</a:t>
            </a:r>
          </a:p>
        </p:txBody>
      </p:sp>
      <p:sp>
        <p:nvSpPr>
          <p:cNvPr id="4" name="Rounded Rectangle 3"/>
          <p:cNvSpPr/>
          <p:nvPr/>
        </p:nvSpPr>
        <p:spPr>
          <a:xfrm>
            <a:off x="731520" y="1554480"/>
            <a:ext cx="5212080" cy="47548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737360"/>
            <a:ext cx="4663440" cy="4389120"/>
          </a:xfrm>
          <a:prstGeom prst="rect">
            <a:avLst/>
          </a:prstGeom>
          <a:noFill/>
        </p:spPr>
        <p:txBody>
          <a:bodyPr wrap="square">
            <a:spAutoFit/>
          </a:bodyPr>
          <a:lstStyle/>
          <a:p>
            <a:pPr>
              <a:defRPr b="1" sz="1100">
                <a:solidFill>
                  <a:srgbClr val="2563EB"/>
                </a:solidFill>
              </a:defRPr>
            </a:pPr>
            <a:r>
              <a:t>CORE OBJECTIVE &amp; REAL-WORLD CHALLENGES</a:t>
            </a:r>
          </a:p>
          <a:p>
            <a:pPr>
              <a:spcBef>
                <a:spcPts val="800"/>
              </a:spcBef>
              <a:defRPr b="1" sz="1100">
                <a:solidFill>
                  <a:srgbClr val="0F172A"/>
                </a:solidFill>
              </a:defRPr>
            </a:pPr>
            <a:r>
              <a:t>• The Primary Objective:</a:t>
            </a:r>
          </a:p>
          <a:p>
            <a:pPr>
              <a:defRPr sz="1000">
                <a:solidFill>
                  <a:srgbClr val="64748B"/>
                </a:solidFill>
              </a:defRPr>
            </a:pPr>
            <a:r>
              <a:t>   Given an acoustic speech signal observation X, determine the most likely word sequence W* = argmax_W P(W | X).</a:t>
            </a:r>
          </a:p>
          <a:p>
            <a:pPr>
              <a:spcBef>
                <a:spcPts val="800"/>
              </a:spcBef>
              <a:defRPr b="1" sz="1100">
                <a:solidFill>
                  <a:srgbClr val="0F172A"/>
                </a:solidFill>
              </a:defRPr>
            </a:pPr>
            <a:r>
              <a:t>• Why ASR Requires NLP:</a:t>
            </a:r>
          </a:p>
          <a:p>
            <a:pPr>
              <a:defRPr sz="1000">
                <a:solidFill>
                  <a:srgbClr val="64748B"/>
                </a:solidFill>
              </a:defRPr>
            </a:pPr>
            <a:r>
              <a:t>   Acoustics alone cannot disambiguate homophones. Language models provide syntactic, semantic, and n-gram priors to choose meaningful sentences.</a:t>
            </a:r>
          </a:p>
          <a:p>
            <a:pPr>
              <a:spcBef>
                <a:spcPts val="800"/>
              </a:spcBef>
              <a:defRPr b="1" sz="1100">
                <a:solidFill>
                  <a:srgbClr val="0F172A"/>
                </a:solidFill>
              </a:defRPr>
            </a:pPr>
            <a:r>
              <a:t>• Real-World Variability:</a:t>
            </a:r>
          </a:p>
          <a:p>
            <a:pPr>
              <a:defRPr sz="1000">
                <a:solidFill>
                  <a:srgbClr val="64748B"/>
                </a:solidFill>
              </a:defRPr>
            </a:pPr>
            <a:r>
              <a:t>   Speech recognition systems must maintain robustness against diverse accents, speaking rates, background acoustic noise, and co-articulation.</a:t>
            </a:r>
          </a:p>
          <a:p>
            <a:br/>
            <a:pPr>
              <a:defRPr b="1" sz="1200">
                <a:solidFill>
                  <a:srgbClr val="1E3A8A"/>
                </a:solidFill>
              </a:defRPr>
            </a:pPr>
            <a:r>
              <a:t>Bayes' Decision Rule:</a:t>
            </a:r>
            <a:br/>
            <a:r>
              <a:t>W* = argmax_W [ P(X | W) * P(W) ]</a:t>
            </a:r>
          </a:p>
        </p:txBody>
      </p:sp>
      <p:sp>
        <p:nvSpPr>
          <p:cNvPr id="6" name="Rounded Rectangle 5"/>
          <p:cNvSpPr/>
          <p:nvPr/>
        </p:nvSpPr>
        <p:spPr>
          <a:xfrm>
            <a:off x="6217920" y="1554480"/>
            <a:ext cx="5242255" cy="47548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737360"/>
            <a:ext cx="4693615" cy="4389120"/>
          </a:xfrm>
          <a:prstGeom prst="rect">
            <a:avLst/>
          </a:prstGeom>
          <a:noFill/>
        </p:spPr>
        <p:txBody>
          <a:bodyPr wrap="square">
            <a:spAutoFit/>
          </a:bodyPr>
          <a:lstStyle/>
          <a:p>
            <a:pPr>
              <a:defRPr b="1" sz="1100">
                <a:solidFill>
                  <a:srgbClr val="2563EB"/>
                </a:solidFill>
              </a:defRPr>
            </a:pPr>
            <a:r>
              <a:t>THE HOMOPHONE AMBIGUITY CHALLENGE</a:t>
            </a:r>
          </a:p>
          <a:p>
            <a:pPr>
              <a:spcAft>
                <a:spcPts val="1000"/>
              </a:spcAft>
              <a:defRPr sz="1000">
                <a:solidFill>
                  <a:srgbClr val="64748B"/>
                </a:solidFill>
              </a:defRPr>
            </a:pPr>
            <a:r>
              <a:t>Identical acoustic phone sequences yield vastly different semantic interpretations:</a:t>
            </a:r>
          </a:p>
          <a:p>
            <a:pPr>
              <a:spcBef>
                <a:spcPts val="800"/>
              </a:spcBef>
              <a:defRPr b="1" sz="1100">
                <a:solidFill>
                  <a:srgbClr val="059669"/>
                </a:solidFill>
              </a:defRPr>
            </a:pPr>
            <a:r>
              <a:t>■ Case 1: Acoustic Stream /r ɛ k ə n aɪ s b iː tʃ/</a:t>
            </a:r>
          </a:p>
          <a:p>
            <a:pPr>
              <a:defRPr sz="950">
                <a:solidFill>
                  <a:srgbClr val="0F172A"/>
                </a:solidFill>
              </a:defRPr>
            </a:pPr>
            <a:r>
              <a:t>Candidate A: “wreck a nice beach”  ➔  P(Acoustic)=98.2%,  P(LM)=0.0004%</a:t>
            </a:r>
            <a:br/>
            <a:r>
              <a:t>Candidate B: “recognize speech”    ➔  P(Acoustic)=98.2%,  P(LM)=8.7420%</a:t>
            </a:r>
            <a:br/>
            <a:r>
              <a:t>✓ Decision: Candidate B chosen due to high Language Model prior.</a:t>
            </a:r>
          </a:p>
          <a:p>
            <a:pPr>
              <a:spcBef>
                <a:spcPts val="800"/>
              </a:spcBef>
              <a:defRPr b="1" sz="1100">
                <a:solidFill>
                  <a:srgbClr val="059669"/>
                </a:solidFill>
              </a:defRPr>
            </a:pPr>
            <a:r>
              <a:t>■ Case 2: Acoustic Stream /ð ɛər/</a:t>
            </a:r>
          </a:p>
          <a:p>
            <a:pPr>
              <a:defRPr sz="950">
                <a:solidFill>
                  <a:srgbClr val="0F172A"/>
                </a:solidFill>
              </a:defRPr>
            </a:pPr>
            <a:r>
              <a:t>Context: “...submitting ___ research paper today.”</a:t>
            </a:r>
            <a:br/>
            <a:r>
              <a:t>P(“their” | context) = 96.8%  vs.  P(“there”) = 2.1%  vs.  P(“they're”) = 1.1%</a:t>
            </a:r>
            <a:br/>
            <a:r>
              <a:t>✓ Decision: “their” selected via syntactic and part-of-speech context.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000" b="1">
                <a:solidFill>
                  <a:srgbClr val="2563EB"/>
                </a:solidFill>
                <a:latin typeface="Calibri"/>
              </a:defRPr>
            </a:pPr>
            <a:r>
              <a:t>●  SLIDE 03 — ACOUSTIC SIGNAL PROCESSING</a:t>
            </a:r>
          </a:p>
          <a:p>
            <a:pPr>
              <a:spcBef>
                <a:spcPts val="300"/>
              </a:spcBef>
              <a:defRPr sz="2200" b="1">
                <a:solidFill>
                  <a:srgbClr val="0F172A"/>
                </a:solidFill>
                <a:latin typeface="Calibri"/>
              </a:defRPr>
            </a:pPr>
            <a:r>
              <a:t>Feature Extraction &amp; The MFCC Pipeline</a:t>
            </a:r>
          </a:p>
          <a:p>
            <a:pPr>
              <a:spcBef>
                <a:spcPts val="200"/>
              </a:spcBef>
              <a:defRPr sz="1100">
                <a:solidFill>
                  <a:srgbClr val="64748B"/>
                </a:solidFill>
                <a:latin typeface="Calibri"/>
              </a:defRPr>
            </a:pPr>
            <a:r>
              <a:t>Converting Continuous Air Pressure Waves into 39-Dimensional Feature Vectors</a:t>
            </a:r>
          </a:p>
        </p:txBody>
      </p:sp>
      <p:sp>
        <p:nvSpPr>
          <p:cNvPr id="4" name="Rounded Rectangle 3"/>
          <p:cNvSpPr/>
          <p:nvPr/>
        </p:nvSpPr>
        <p:spPr>
          <a:xfrm>
            <a:off x="731520" y="1554480"/>
            <a:ext cx="5212080" cy="47548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737360"/>
            <a:ext cx="4663440" cy="4389120"/>
          </a:xfrm>
          <a:prstGeom prst="rect">
            <a:avLst/>
          </a:prstGeom>
          <a:noFill/>
        </p:spPr>
        <p:txBody>
          <a:bodyPr wrap="square">
            <a:spAutoFit/>
          </a:bodyPr>
          <a:lstStyle/>
          <a:p>
            <a:pPr>
              <a:defRPr b="1" sz="1100">
                <a:solidFill>
                  <a:srgbClr val="2563EB"/>
                </a:solidFill>
              </a:defRPr>
            </a:pPr>
            <a:r>
              <a:t>THE 5-STAGE MFCC EXTRACTION PIPELINE</a:t>
            </a:r>
          </a:p>
          <a:p>
            <a:pPr>
              <a:spcBef>
                <a:spcPts val="600"/>
              </a:spcBef>
              <a:defRPr b="1" sz="1050">
                <a:solidFill>
                  <a:srgbClr val="1E3A8A"/>
                </a:solidFill>
              </a:defRPr>
            </a:pPr>
            <a:r>
              <a:t>1. Pre-Emphasis</a:t>
            </a:r>
          </a:p>
          <a:p>
            <a:pPr>
              <a:defRPr sz="950">
                <a:solidFill>
                  <a:srgbClr val="64748B"/>
                </a:solidFill>
              </a:defRPr>
            </a:pPr>
            <a:r>
              <a:t>Amplifies higher frequencies with filter y[n] = x[n] - 0.97*x[n-1] to balance glottal roll-off.</a:t>
            </a:r>
          </a:p>
          <a:p>
            <a:pPr>
              <a:spcBef>
                <a:spcPts val="600"/>
              </a:spcBef>
              <a:defRPr b="1" sz="1050">
                <a:solidFill>
                  <a:srgbClr val="1E3A8A"/>
                </a:solidFill>
              </a:defRPr>
            </a:pPr>
            <a:r>
              <a:t>2. Framing &amp; Windowing</a:t>
            </a:r>
          </a:p>
          <a:p>
            <a:pPr>
              <a:defRPr sz="950">
                <a:solidFill>
                  <a:srgbClr val="64748B"/>
                </a:solidFill>
              </a:defRPr>
            </a:pPr>
            <a:r>
              <a:t>Segments signal into 25ms frames with 10ms overlap using Hamming window to prevent spectral leakage.</a:t>
            </a:r>
          </a:p>
          <a:p>
            <a:pPr>
              <a:spcBef>
                <a:spcPts val="600"/>
              </a:spcBef>
              <a:defRPr b="1" sz="1050">
                <a:solidFill>
                  <a:srgbClr val="1E3A8A"/>
                </a:solidFill>
              </a:defRPr>
            </a:pPr>
            <a:r>
              <a:t>3. Fast Fourier Transform (FFT)</a:t>
            </a:r>
          </a:p>
          <a:p>
            <a:pPr>
              <a:defRPr sz="950">
                <a:solidFill>
                  <a:srgbClr val="64748B"/>
                </a:solidFill>
              </a:defRPr>
            </a:pPr>
            <a:r>
              <a:t>Converts each 25ms time-domain frame into a magnitude power spectrum.</a:t>
            </a:r>
          </a:p>
          <a:p>
            <a:pPr>
              <a:spcBef>
                <a:spcPts val="600"/>
              </a:spcBef>
              <a:defRPr b="1" sz="1050">
                <a:solidFill>
                  <a:srgbClr val="1E3A8A"/>
                </a:solidFill>
              </a:defRPr>
            </a:pPr>
            <a:r>
              <a:t>4. Mel-Scale Filter Bank</a:t>
            </a:r>
          </a:p>
          <a:p>
            <a:pPr>
              <a:defRPr sz="950">
                <a:solidFill>
                  <a:srgbClr val="64748B"/>
                </a:solidFill>
              </a:defRPr>
            </a:pPr>
            <a:r>
              <a:t>Applies 80 triangular overlapping filters spaced logarithmically: m = 2595*log10(1 + f/700).</a:t>
            </a:r>
          </a:p>
          <a:p>
            <a:pPr>
              <a:spcBef>
                <a:spcPts val="600"/>
              </a:spcBef>
              <a:defRPr b="1" sz="1050">
                <a:solidFill>
                  <a:srgbClr val="1E3A8A"/>
                </a:solidFill>
              </a:defRPr>
            </a:pPr>
            <a:r>
              <a:t>5. Discrete Cosine Transform (DCT)</a:t>
            </a:r>
          </a:p>
          <a:p>
            <a:pPr>
              <a:defRPr sz="950">
                <a:solidFill>
                  <a:srgbClr val="64748B"/>
                </a:solidFill>
              </a:defRPr>
            </a:pPr>
            <a:r>
              <a:t>Decorrelates filterbank energies into 13 cepstral coefficients + Delta + Delta-Delta (39D vector).</a:t>
            </a:r>
          </a:p>
        </p:txBody>
      </p:sp>
      <p:sp>
        <p:nvSpPr>
          <p:cNvPr id="6" name="Rounded Rectangle 5"/>
          <p:cNvSpPr/>
          <p:nvPr/>
        </p:nvSpPr>
        <p:spPr>
          <a:xfrm>
            <a:off x="6217920" y="1554480"/>
            <a:ext cx="5242255" cy="47548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737360"/>
            <a:ext cx="4693615" cy="4389120"/>
          </a:xfrm>
          <a:prstGeom prst="rect">
            <a:avLst/>
          </a:prstGeom>
          <a:noFill/>
        </p:spPr>
        <p:txBody>
          <a:bodyPr wrap="square">
            <a:spAutoFit/>
          </a:bodyPr>
          <a:lstStyle/>
          <a:p>
            <a:pPr>
              <a:defRPr b="1" sz="1100">
                <a:solidFill>
                  <a:srgbClr val="2563EB"/>
                </a:solidFill>
              </a:defRPr>
            </a:pPr>
            <a:r>
              <a:t>PERCEPTUAL MEL SCALE &amp; TIME-FREQUENCY MATRIX</a:t>
            </a:r>
          </a:p>
          <a:p>
            <a:pPr>
              <a:spcAft>
                <a:spcPts val="1000"/>
              </a:spcAft>
              <a:defRPr sz="1000">
                <a:solidFill>
                  <a:srgbClr val="64748B"/>
                </a:solidFill>
              </a:defRPr>
            </a:pPr>
            <a:r>
              <a:t>Why Mel-Frequency Cepstral Coefficients (MFCC) Dominate Speech Processing:</a:t>
            </a:r>
          </a:p>
          <a:p>
            <a:pPr>
              <a:spcBef>
                <a:spcPts val="800"/>
              </a:spcBef>
              <a:defRPr b="1" sz="1050">
                <a:solidFill>
                  <a:srgbClr val="059669"/>
                </a:solidFill>
              </a:defRPr>
            </a:pPr>
            <a:r>
              <a:t>■ Non-Linear Auditory Modeling:</a:t>
            </a:r>
          </a:p>
          <a:p>
            <a:pPr>
              <a:defRPr sz="950">
                <a:solidFill>
                  <a:srgbClr val="0F172A"/>
                </a:solidFill>
              </a:defRPr>
            </a:pPr>
            <a:r>
              <a:t>Human hearing perceives pitch logarithmically. The human cochlea has dense sensory resolution below 1 kHz and coarser resolution at higher frequencies.</a:t>
            </a:r>
          </a:p>
          <a:p>
            <a:pPr>
              <a:spcBef>
                <a:spcPts val="800"/>
              </a:spcBef>
              <a:defRPr b="1" sz="1050">
                <a:solidFill>
                  <a:srgbClr val="059669"/>
                </a:solidFill>
              </a:defRPr>
            </a:pPr>
            <a:r>
              <a:t>■ Formant Spectral Envelope:</a:t>
            </a:r>
          </a:p>
          <a:p>
            <a:pPr>
              <a:defRPr sz="950">
                <a:solidFill>
                  <a:srgbClr val="0F172A"/>
                </a:solidFill>
              </a:defRPr>
            </a:pPr>
            <a:r>
              <a:t>MFCCs capture vocal tract resonances (formants F1, F2, F3) while smoothing away irrelevant pitch harmonics and speaker glottal excitation pulses.</a:t>
            </a:r>
          </a:p>
          <a:p>
            <a:pPr>
              <a:spcBef>
                <a:spcPts val="800"/>
              </a:spcBef>
              <a:defRPr b="1" sz="1050">
                <a:solidFill>
                  <a:srgbClr val="059669"/>
                </a:solidFill>
              </a:defRPr>
            </a:pPr>
            <a:r>
              <a:t>■ Dynamic Velocity &amp; Acceleration:</a:t>
            </a:r>
          </a:p>
          <a:p>
            <a:pPr>
              <a:defRPr sz="950">
                <a:solidFill>
                  <a:srgbClr val="0F172A"/>
                </a:solidFill>
              </a:defRPr>
            </a:pPr>
            <a:r>
              <a:t>Adding 13 1st derivatives (Delta) and 13 2nd derivatives (Delta-Delta) captures trajectory transitions between consecutive phonemes.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000" b="1">
                <a:solidFill>
                  <a:srgbClr val="2563EB"/>
                </a:solidFill>
                <a:latin typeface="Calibri"/>
              </a:defRPr>
            </a:pPr>
            <a:r>
              <a:t>●  SLIDE 04 — ASR ARCHITECTURES</a:t>
            </a:r>
          </a:p>
          <a:p>
            <a:pPr>
              <a:spcBef>
                <a:spcPts val="300"/>
              </a:spcBef>
              <a:defRPr sz="2200" b="1">
                <a:solidFill>
                  <a:srgbClr val="0F172A"/>
                </a:solidFill>
                <a:latin typeface="Calibri"/>
              </a:defRPr>
            </a:pPr>
            <a:r>
              <a:t>Classical Triad vs. Modern End-to-End</a:t>
            </a:r>
          </a:p>
          <a:p>
            <a:pPr>
              <a:spcBef>
                <a:spcPts val="200"/>
              </a:spcBef>
              <a:defRPr sz="1100">
                <a:solidFill>
                  <a:srgbClr val="64748B"/>
                </a:solidFill>
                <a:latin typeface="Calibri"/>
              </a:defRPr>
            </a:pPr>
            <a:r>
              <a:t>From Cascaded Independent Modules to Unified Deep Neural Transformers</a:t>
            </a:r>
          </a:p>
        </p:txBody>
      </p:sp>
      <p:sp>
        <p:nvSpPr>
          <p:cNvPr id="4" name="Rounded Rectangle 3"/>
          <p:cNvSpPr/>
          <p:nvPr/>
        </p:nvSpPr>
        <p:spPr>
          <a:xfrm>
            <a:off x="731520" y="1554480"/>
            <a:ext cx="5212080" cy="47548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737360"/>
            <a:ext cx="4663440" cy="4389120"/>
          </a:xfrm>
          <a:prstGeom prst="rect">
            <a:avLst/>
          </a:prstGeom>
          <a:noFill/>
        </p:spPr>
        <p:txBody>
          <a:bodyPr wrap="square">
            <a:spAutoFit/>
          </a:bodyPr>
          <a:lstStyle/>
          <a:p>
            <a:pPr>
              <a:defRPr b="1" sz="1100">
                <a:solidFill>
                  <a:srgbClr val="2563EB"/>
                </a:solidFill>
              </a:defRPr>
            </a:pPr>
            <a:r>
              <a:t>THE CLASSICAL MODULAR TRIAD (HMM-GMM/DNN)</a:t>
            </a:r>
          </a:p>
          <a:p>
            <a:pPr>
              <a:spcBef>
                <a:spcPts val="600"/>
              </a:spcBef>
              <a:defRPr b="1" sz="1050">
                <a:solidFill>
                  <a:srgbClr val="1E3A8A"/>
                </a:solidFill>
              </a:defRPr>
            </a:pPr>
            <a:r>
              <a:t>1. Acoustic Model (AM):</a:t>
            </a:r>
          </a:p>
          <a:p>
            <a:pPr>
              <a:defRPr sz="950">
                <a:solidFill>
                  <a:srgbClr val="64748B"/>
                </a:solidFill>
              </a:defRPr>
            </a:pPr>
            <a:r>
              <a:t>HMM + Gaussian Mixture Models or DNN. Models P(Audio | Phone), mapping 25ms MFCC frames to sub-phone states.</a:t>
            </a:r>
          </a:p>
          <a:p>
            <a:pPr>
              <a:spcBef>
                <a:spcPts val="600"/>
              </a:spcBef>
              <a:defRPr b="1" sz="1050">
                <a:solidFill>
                  <a:srgbClr val="1E3A8A"/>
                </a:solidFill>
              </a:defRPr>
            </a:pPr>
            <a:r>
              <a:t>2. Pronunciation Lexicon (L):</a:t>
            </a:r>
          </a:p>
          <a:p>
            <a:pPr>
              <a:defRPr sz="950">
                <a:solidFill>
                  <a:srgbClr val="64748B"/>
                </a:solidFill>
              </a:defRPr>
            </a:pPr>
            <a:r>
              <a:t>Hand-crafted phonetic dictionary (e.g., CMUdict). Maps sequences of phonemes to vocabulary words: /k/ /æ/ /t/ ➔ 'cat'.</a:t>
            </a:r>
          </a:p>
          <a:p>
            <a:pPr>
              <a:spcBef>
                <a:spcPts val="600"/>
              </a:spcBef>
              <a:defRPr b="1" sz="1050">
                <a:solidFill>
                  <a:srgbClr val="1E3A8A"/>
                </a:solidFill>
              </a:defRPr>
            </a:pPr>
            <a:r>
              <a:t>3. Language Model (LM):</a:t>
            </a:r>
          </a:p>
          <a:p>
            <a:pPr>
              <a:defRPr sz="950">
                <a:solidFill>
                  <a:srgbClr val="64748B"/>
                </a:solidFill>
              </a:defRPr>
            </a:pPr>
            <a:r>
              <a:t>Statistical N-gram (SRILM / KenLM). Computes P(W) to rank sentence probabilities based on word sequence history.</a:t>
            </a:r>
          </a:p>
          <a:p>
            <a:br/>
            <a:pPr>
              <a:defRPr sz="950">
                <a:solidFill>
                  <a:srgbClr val="EF4444"/>
                </a:solidFill>
              </a:defRPr>
            </a:pPr>
            <a:r>
              <a:t>⚠️ Limitation: Cascading Errors</a:t>
            </a:r>
            <a:br/>
            <a:r>
              <a:t>Errors in acoustic modeling propagate irreversibly to the lexicon and decoder. Requires complex Weighted Finite-State Transducers (WFST).</a:t>
            </a:r>
          </a:p>
        </p:txBody>
      </p:sp>
      <p:sp>
        <p:nvSpPr>
          <p:cNvPr id="6" name="Rounded Rectangle 5"/>
          <p:cNvSpPr/>
          <p:nvPr/>
        </p:nvSpPr>
        <p:spPr>
          <a:xfrm>
            <a:off x="6217920" y="1554480"/>
            <a:ext cx="5242255" cy="475488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737360"/>
            <a:ext cx="4693615" cy="4389120"/>
          </a:xfrm>
          <a:prstGeom prst="rect">
            <a:avLst/>
          </a:prstGeom>
          <a:noFill/>
        </p:spPr>
        <p:txBody>
          <a:bodyPr wrap="square">
            <a:spAutoFit/>
          </a:bodyPr>
          <a:lstStyle/>
          <a:p>
            <a:pPr>
              <a:defRPr b="1" sz="1100">
                <a:solidFill>
                  <a:srgbClr val="059669"/>
                </a:solidFill>
              </a:defRPr>
            </a:pPr>
            <a:r>
              <a:t>MODERN END-TO-END (E2E) NEURAL ASR</a:t>
            </a:r>
          </a:p>
          <a:p>
            <a:pPr>
              <a:spcBef>
                <a:spcPts val="600"/>
              </a:spcBef>
              <a:defRPr b="1" sz="1050">
                <a:solidFill>
                  <a:srgbClr val="059669"/>
                </a:solidFill>
              </a:defRPr>
            </a:pPr>
            <a:r>
              <a:t>■ Single Unified Neural Network:</a:t>
            </a:r>
          </a:p>
          <a:p>
            <a:pPr>
              <a:defRPr sz="950">
                <a:solidFill>
                  <a:srgbClr val="0F172A"/>
                </a:solidFill>
              </a:defRPr>
            </a:pPr>
            <a:r>
              <a:t>Replaces AM, Lexicon, and LM with an Encoder-Decoder or CTC architecture (Conformer, Whisper, RNN-T).</a:t>
            </a:r>
          </a:p>
          <a:p>
            <a:pPr>
              <a:spcBef>
                <a:spcPts val="600"/>
              </a:spcBef>
              <a:defRPr b="1" sz="1050">
                <a:solidFill>
                  <a:srgbClr val="059669"/>
                </a:solidFill>
              </a:defRPr>
            </a:pPr>
            <a:r>
              <a:t>■ Direct Spectrogram-to-Text Mapping:</a:t>
            </a:r>
          </a:p>
          <a:p>
            <a:pPr>
              <a:defRPr sz="950">
                <a:solidFill>
                  <a:srgbClr val="0F172A"/>
                </a:solidFill>
              </a:defRPr>
            </a:pPr>
            <a:r>
              <a:t>Directly outputs Byte-Pair Encoded (BPE) subwords. Zero need for hand-crafted phonetic dictionaries or forced phoneme alignments.</a:t>
            </a:r>
          </a:p>
          <a:p>
            <a:pPr>
              <a:spcBef>
                <a:spcPts val="600"/>
              </a:spcBef>
              <a:defRPr b="1" sz="1050">
                <a:solidFill>
                  <a:srgbClr val="059669"/>
                </a:solidFill>
              </a:defRPr>
            </a:pPr>
            <a:r>
              <a:t>■ Cross-Attention &amp; Multi-Head Self-Attention:</a:t>
            </a:r>
          </a:p>
          <a:p>
            <a:pPr>
              <a:defRPr sz="950">
                <a:solidFill>
                  <a:srgbClr val="0F172A"/>
                </a:solidFill>
              </a:defRPr>
            </a:pPr>
            <a:r>
              <a:t>Encoder captures long-range temporal acoustic context; autoregressive Decoder inherently models language syntax, capitalization, and punctuation.</a:t>
            </a:r>
          </a:p>
          <a:p>
            <a:pPr>
              <a:spcBef>
                <a:spcPts val="600"/>
              </a:spcBef>
              <a:defRPr b="1" sz="1050">
                <a:solidFill>
                  <a:srgbClr val="059669"/>
                </a:solidFill>
              </a:defRPr>
            </a:pPr>
            <a:r>
              <a:t>■ Massive Multi-Task &amp; Multilingual Scaling:</a:t>
            </a:r>
          </a:p>
          <a:p>
            <a:pPr>
              <a:defRPr sz="950">
                <a:solidFill>
                  <a:srgbClr val="0F172A"/>
                </a:solidFill>
              </a:defRPr>
            </a:pPr>
            <a:r>
              <a:t>Models trained on 680,000+ hours (Whisper) support translation, voice activity detection, and 100+ spoken languages seamlessly.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000" b="1">
                <a:solidFill>
                  <a:srgbClr val="2563EB"/>
                </a:solidFill>
                <a:latin typeface="Calibri"/>
              </a:defRPr>
            </a:pPr>
            <a:r>
              <a:t>●  SLIDE 05 — EVALUATION &amp; SEARCH</a:t>
            </a:r>
          </a:p>
          <a:p>
            <a:pPr>
              <a:spcBef>
                <a:spcPts val="300"/>
              </a:spcBef>
              <a:defRPr sz="2200" b="1">
                <a:solidFill>
                  <a:srgbClr val="0F172A"/>
                </a:solidFill>
                <a:latin typeface="Calibri"/>
              </a:defRPr>
            </a:pPr>
            <a:r>
              <a:t>Decoding Algorithms &amp; Word Error Rate (WER)</a:t>
            </a:r>
          </a:p>
          <a:p>
            <a:pPr>
              <a:spcBef>
                <a:spcPts val="200"/>
              </a:spcBef>
              <a:defRPr sz="1100">
                <a:solidFill>
                  <a:srgbClr val="64748B"/>
                </a:solidFill>
                <a:latin typeface="Calibri"/>
              </a:defRPr>
            </a:pPr>
            <a:r>
              <a:t>Viterbi Beam Search, Levenshtein Distance &amp; Quantitative Performance Benchmarks</a:t>
            </a:r>
          </a:p>
        </p:txBody>
      </p:sp>
      <p:sp>
        <p:nvSpPr>
          <p:cNvPr id="4" name="Rounded Rectangle 3"/>
          <p:cNvSpPr/>
          <p:nvPr/>
        </p:nvSpPr>
        <p:spPr>
          <a:xfrm>
            <a:off x="731520" y="1554480"/>
            <a:ext cx="5212080" cy="47548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737360"/>
            <a:ext cx="4663440" cy="4389120"/>
          </a:xfrm>
          <a:prstGeom prst="rect">
            <a:avLst/>
          </a:prstGeom>
          <a:noFill/>
        </p:spPr>
        <p:txBody>
          <a:bodyPr wrap="square">
            <a:spAutoFit/>
          </a:bodyPr>
          <a:lstStyle/>
          <a:p>
            <a:pPr>
              <a:defRPr b="1" sz="1100">
                <a:solidFill>
                  <a:srgbClr val="2563EB"/>
                </a:solidFill>
              </a:defRPr>
            </a:pPr>
            <a:r>
              <a:t>SEARCH &amp; DECODING ALGORITHMS</a:t>
            </a:r>
          </a:p>
          <a:p>
            <a:pPr>
              <a:spcBef>
                <a:spcPts val="600"/>
              </a:spcBef>
              <a:defRPr b="1" sz="1050">
                <a:solidFill>
                  <a:srgbClr val="1E3A8A"/>
                </a:solidFill>
              </a:defRPr>
            </a:pPr>
            <a:r>
              <a:t>• Greedy Argmax Decoding:</a:t>
            </a:r>
          </a:p>
          <a:p>
            <a:pPr>
              <a:defRPr sz="950">
                <a:solidFill>
                  <a:srgbClr val="64748B"/>
                </a:solidFill>
              </a:defRPr>
            </a:pPr>
            <a:r>
              <a:t>Selects the highest probability token at each time step. Fast, but susceptible to local optima and grammatically invalid sentences.</a:t>
            </a:r>
          </a:p>
          <a:p>
            <a:pPr>
              <a:spcBef>
                <a:spcPts val="600"/>
              </a:spcBef>
              <a:defRPr b="1" sz="1050">
                <a:solidFill>
                  <a:srgbClr val="1E3A8A"/>
                </a:solidFill>
              </a:defRPr>
            </a:pPr>
            <a:r>
              <a:t>• Beam Search Decoder:</a:t>
            </a:r>
          </a:p>
          <a:p>
            <a:pPr>
              <a:defRPr sz="950">
                <a:solidFill>
                  <a:srgbClr val="64748B"/>
                </a:solidFill>
              </a:defRPr>
            </a:pPr>
            <a:r>
              <a:t>Maintains the top-B most probable hypotheses (beam width B=5–10) across time frames, balancing search breadth and compute efficiency.</a:t>
            </a:r>
          </a:p>
          <a:p>
            <a:pPr>
              <a:spcBef>
                <a:spcPts val="600"/>
              </a:spcBef>
              <a:defRPr b="1" sz="1050">
                <a:solidFill>
                  <a:srgbClr val="1E3A8A"/>
                </a:solidFill>
              </a:defRPr>
            </a:pPr>
            <a:r>
              <a:t>• Connectionist Temporal Classification (CTC):</a:t>
            </a:r>
          </a:p>
          <a:p>
            <a:pPr>
              <a:defRPr sz="950">
                <a:solidFill>
                  <a:srgbClr val="64748B"/>
                </a:solidFill>
              </a:defRPr>
            </a:pPr>
            <a:r>
              <a:t>Introduces a special blank symbol &lt;blank&gt; allowing networks to emit tokens without requiring frame-by-frame phonetic alignment.</a:t>
            </a:r>
          </a:p>
          <a:p>
            <a:pPr>
              <a:spcBef>
                <a:spcPts val="600"/>
              </a:spcBef>
              <a:defRPr b="1" sz="1050">
                <a:solidFill>
                  <a:srgbClr val="1E3A8A"/>
                </a:solidFill>
              </a:defRPr>
            </a:pPr>
            <a:r>
              <a:t>• Autoregressive Attention Decoding:</a:t>
            </a:r>
          </a:p>
          <a:p>
            <a:pPr>
              <a:defRPr sz="950">
                <a:solidFill>
                  <a:srgbClr val="64748B"/>
                </a:solidFill>
              </a:defRPr>
            </a:pPr>
            <a:r>
              <a:t>Decodes tokens conditioned on all previously generated tokens and the cross-attention acoustic memory representation.</a:t>
            </a:r>
          </a:p>
        </p:txBody>
      </p:sp>
      <p:sp>
        <p:nvSpPr>
          <p:cNvPr id="6" name="Rounded Rectangle 5"/>
          <p:cNvSpPr/>
          <p:nvPr/>
        </p:nvSpPr>
        <p:spPr>
          <a:xfrm>
            <a:off x="6217920" y="1554480"/>
            <a:ext cx="5242255" cy="47548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737360"/>
            <a:ext cx="4693615" cy="4389120"/>
          </a:xfrm>
          <a:prstGeom prst="rect">
            <a:avLst/>
          </a:prstGeom>
          <a:noFill/>
        </p:spPr>
        <p:txBody>
          <a:bodyPr wrap="square">
            <a:spAutoFit/>
          </a:bodyPr>
          <a:lstStyle/>
          <a:p>
            <a:pPr>
              <a:defRPr b="1" sz="1100">
                <a:solidFill>
                  <a:srgbClr val="2563EB"/>
                </a:solidFill>
              </a:defRPr>
            </a:pPr>
            <a:r>
              <a:t>WORD ERROR RATE (WER) FORMULA &amp; BENCHMARKS</a:t>
            </a:r>
          </a:p>
          <a:p>
            <a:pPr>
              <a:defRPr sz="1000">
                <a:solidFill>
                  <a:srgbClr val="64748B"/>
                </a:solidFill>
              </a:defRPr>
            </a:pPr>
            <a:r>
              <a:t>Standard evaluation metric computed via Levenshtein edit distance alignment:</a:t>
            </a:r>
          </a:p>
          <a:p>
            <a:br/>
            <a:pPr>
              <a:spcAft>
                <a:spcPts val="800"/>
              </a:spcAft>
              <a:defRPr b="1" sz="1400">
                <a:solidFill>
                  <a:srgbClr val="D97706"/>
                </a:solidFill>
              </a:defRPr>
            </a:pPr>
            <a:r>
              <a:t>WER = [ (S + D + I) / N ] * 100%</a:t>
            </a:r>
          </a:p>
          <a:p>
            <a:pPr>
              <a:defRPr sz="950">
                <a:solidFill>
                  <a:srgbClr val="0F172A"/>
                </a:solidFill>
              </a:defRPr>
            </a:pPr>
            <a:r>
              <a:t>S (Substitutions): Incorrect word transcribed in place of true word.</a:t>
            </a:r>
          </a:p>
          <a:p>
            <a:pPr>
              <a:defRPr sz="950">
                <a:solidFill>
                  <a:srgbClr val="0F172A"/>
                </a:solidFill>
              </a:defRPr>
            </a:pPr>
            <a:r>
              <a:t>D (Deletions): Reference word completely omitted in transcription.</a:t>
            </a:r>
          </a:p>
          <a:p>
            <a:pPr>
              <a:defRPr sz="950">
                <a:solidFill>
                  <a:srgbClr val="0F172A"/>
                </a:solidFill>
              </a:defRPr>
            </a:pPr>
            <a:r>
              <a:t>I (Insertions): Spurious extraneous word added that was never spoken.</a:t>
            </a:r>
          </a:p>
          <a:p>
            <a:pPr>
              <a:defRPr sz="950">
                <a:solidFill>
                  <a:srgbClr val="0F172A"/>
                </a:solidFill>
              </a:defRPr>
            </a:pPr>
            <a:r>
              <a:t>N (Total Words): Total count of words in ground-truth reference sentence.</a:t>
            </a:r>
          </a:p>
          <a:p>
            <a:br/>
            <a:pPr>
              <a:defRPr sz="950" b="1">
                <a:solidFill>
                  <a:srgbClr val="1E3A8A"/>
                </a:solidFill>
              </a:defRPr>
            </a:pPr>
            <a:r>
              <a:t>Benchmark Performance (LibriSpeech Test-Clean):</a:t>
            </a:r>
            <a:br/>
            <a:r>
              <a:t>• Whisper Large-v3: ~2.5% WER | • Conformer-CTC: ~2.1% WER</a:t>
            </a:r>
            <a:br/>
            <a:r>
              <a:t>• Classical GMM-HMM: ~12.5% WER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000" b="1">
                <a:solidFill>
                  <a:srgbClr val="2563EB"/>
                </a:solidFill>
                <a:latin typeface="Calibri"/>
              </a:defRPr>
            </a:pPr>
            <a:r>
              <a:t>●  SLIDE 06 — CONCLUSION &amp; FUTURE HORIZONS</a:t>
            </a:r>
          </a:p>
          <a:p>
            <a:pPr>
              <a:spcBef>
                <a:spcPts val="300"/>
              </a:spcBef>
              <a:defRPr sz="2200" b="1">
                <a:solidFill>
                  <a:srgbClr val="0F172A"/>
                </a:solidFill>
                <a:latin typeface="Calibri"/>
              </a:defRPr>
            </a:pPr>
            <a:r>
              <a:t>Summary &amp; Emerging Frontiers in Speech AI</a:t>
            </a:r>
          </a:p>
          <a:p>
            <a:pPr>
              <a:spcBef>
                <a:spcPts val="200"/>
              </a:spcBef>
              <a:defRPr sz="1100">
                <a:solidFill>
                  <a:srgbClr val="64748B"/>
                </a:solidFill>
                <a:latin typeface="Calibri"/>
              </a:defRPr>
            </a:pPr>
            <a:r>
              <a:t>Synthesizing the Complete Pipeline and Exploring Next-Generation Frontiers</a:t>
            </a:r>
          </a:p>
        </p:txBody>
      </p:sp>
      <p:sp>
        <p:nvSpPr>
          <p:cNvPr id="4" name="Rounded Rectangle 3"/>
          <p:cNvSpPr/>
          <p:nvPr/>
        </p:nvSpPr>
        <p:spPr>
          <a:xfrm>
            <a:off x="731520" y="1554480"/>
            <a:ext cx="5212080" cy="47548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737360"/>
            <a:ext cx="4663440" cy="4389120"/>
          </a:xfrm>
          <a:prstGeom prst="rect">
            <a:avLst/>
          </a:prstGeom>
          <a:noFill/>
        </p:spPr>
        <p:txBody>
          <a:bodyPr wrap="square">
            <a:spAutoFit/>
          </a:bodyPr>
          <a:lstStyle/>
          <a:p>
            <a:pPr>
              <a:defRPr b="1" sz="1100">
                <a:solidFill>
                  <a:srgbClr val="2563EB"/>
                </a:solidFill>
              </a:defRPr>
            </a:pPr>
            <a:r>
              <a:t>KEY TAKEAWAYS — THE 4 PILLARS</a:t>
            </a:r>
          </a:p>
          <a:p>
            <a:pPr>
              <a:spcBef>
                <a:spcPts val="600"/>
              </a:spcBef>
              <a:defRPr b="1" sz="1050">
                <a:solidFill>
                  <a:srgbClr val="1E3A8A"/>
                </a:solidFill>
              </a:defRPr>
            </a:pPr>
            <a:r>
              <a:t>1. Acoustic Feature Extraction:</a:t>
            </a:r>
          </a:p>
          <a:p>
            <a:pPr>
              <a:defRPr sz="950">
                <a:solidFill>
                  <a:srgbClr val="64748B"/>
                </a:solidFill>
              </a:defRPr>
            </a:pPr>
            <a:r>
              <a:t>Raw sound waves are parameterized into 39-dimensional MFCC vectors or 80-channel log-mel filterbanks.</a:t>
            </a:r>
          </a:p>
          <a:p>
            <a:pPr>
              <a:spcBef>
                <a:spcPts val="600"/>
              </a:spcBef>
              <a:defRPr b="1" sz="1050">
                <a:solidFill>
                  <a:srgbClr val="1E3A8A"/>
                </a:solidFill>
              </a:defRPr>
            </a:pPr>
            <a:r>
              <a:t>2. Acoustic Modeling:</a:t>
            </a:r>
          </a:p>
          <a:p>
            <a:pPr>
              <a:defRPr sz="950">
                <a:solidFill>
                  <a:srgbClr val="64748B"/>
                </a:solidFill>
              </a:defRPr>
            </a:pPr>
            <a:r>
              <a:t>Maps spectral patterns to phonemes or subword likelihoods, overcoming speaker and microphone variations.</a:t>
            </a:r>
          </a:p>
          <a:p>
            <a:pPr>
              <a:spcBef>
                <a:spcPts val="600"/>
              </a:spcBef>
              <a:defRPr b="1" sz="1050">
                <a:solidFill>
                  <a:srgbClr val="1E3A8A"/>
                </a:solidFill>
              </a:defRPr>
            </a:pPr>
            <a:r>
              <a:t>3. NLP Language Modeling:</a:t>
            </a:r>
          </a:p>
          <a:p>
            <a:pPr>
              <a:defRPr sz="950">
                <a:solidFill>
                  <a:srgbClr val="64748B"/>
                </a:solidFill>
              </a:defRPr>
            </a:pPr>
            <a:r>
              <a:t>Provides essential vocabulary and semantic context, resolving homophones and ensuring grammatically valid output.</a:t>
            </a:r>
          </a:p>
          <a:p>
            <a:pPr>
              <a:spcBef>
                <a:spcPts val="600"/>
              </a:spcBef>
              <a:defRPr b="1" sz="1050">
                <a:solidFill>
                  <a:srgbClr val="1E3A8A"/>
                </a:solidFill>
              </a:defRPr>
            </a:pPr>
            <a:r>
              <a:t>4. Modern E2E Transformers:</a:t>
            </a:r>
          </a:p>
          <a:p>
            <a:pPr>
              <a:defRPr sz="950">
                <a:solidFill>
                  <a:srgbClr val="64748B"/>
                </a:solidFill>
              </a:defRPr>
            </a:pPr>
            <a:r>
              <a:t>Replaced fragmented pipelines with unified deep attention models that optimize end-to-end transcription accuracy.</a:t>
            </a:r>
          </a:p>
        </p:txBody>
      </p:sp>
      <p:sp>
        <p:nvSpPr>
          <p:cNvPr id="6" name="Rounded Rectangle 5"/>
          <p:cNvSpPr/>
          <p:nvPr/>
        </p:nvSpPr>
        <p:spPr>
          <a:xfrm>
            <a:off x="6217920" y="1554480"/>
            <a:ext cx="5242255" cy="47548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737360"/>
            <a:ext cx="4693615" cy="4389120"/>
          </a:xfrm>
          <a:prstGeom prst="rect">
            <a:avLst/>
          </a:prstGeom>
          <a:noFill/>
        </p:spPr>
        <p:txBody>
          <a:bodyPr wrap="square">
            <a:spAutoFit/>
          </a:bodyPr>
          <a:lstStyle/>
          <a:p>
            <a:pPr>
              <a:defRPr b="1" sz="1100">
                <a:solidFill>
                  <a:srgbClr val="2563EB"/>
                </a:solidFill>
              </a:defRPr>
            </a:pPr>
            <a:r>
              <a:t>EMERGING RESEARCH FRONTIERS IN SPEECH AI</a:t>
            </a:r>
          </a:p>
          <a:p>
            <a:pPr>
              <a:spcBef>
                <a:spcPts val="600"/>
              </a:spcBef>
              <a:defRPr b="1" sz="1050">
                <a:solidFill>
                  <a:srgbClr val="059669"/>
                </a:solidFill>
              </a:defRPr>
            </a:pPr>
            <a:r>
              <a:t>★ Multilingual Zero-Shot Transfer:</a:t>
            </a:r>
          </a:p>
          <a:p>
            <a:pPr>
              <a:defRPr sz="950">
                <a:solidFill>
                  <a:srgbClr val="0F172A"/>
                </a:solidFill>
              </a:defRPr>
            </a:pPr>
            <a:r>
              <a:t>Self-supervised speech models (wav2vec 2.0, HuBERT) learning 1,000+ low-resource languages with minimal labeled training data.</a:t>
            </a:r>
          </a:p>
          <a:p>
            <a:pPr>
              <a:spcBef>
                <a:spcPts val="600"/>
              </a:spcBef>
              <a:defRPr b="1" sz="1050">
                <a:solidFill>
                  <a:srgbClr val="059669"/>
                </a:solidFill>
              </a:defRPr>
            </a:pPr>
            <a:r>
              <a:t>★ Low-Latency Streaming On-Device:</a:t>
            </a:r>
          </a:p>
          <a:p>
            <a:pPr>
              <a:defRPr sz="950">
                <a:solidFill>
                  <a:srgbClr val="0F172A"/>
                </a:solidFill>
              </a:defRPr>
            </a:pPr>
            <a:r>
              <a:t>Quantized edge models operating entirely on mobile chips (NPU) with sub-100ms real-time latency and zero privacy exposure.</a:t>
            </a:r>
          </a:p>
          <a:p>
            <a:pPr>
              <a:spcBef>
                <a:spcPts val="600"/>
              </a:spcBef>
              <a:defRPr b="1" sz="1050">
                <a:solidFill>
                  <a:srgbClr val="059669"/>
                </a:solidFill>
              </a:defRPr>
            </a:pPr>
            <a:r>
              <a:t>★ Paralinguistics &amp; Emotion Detection:</a:t>
            </a:r>
          </a:p>
          <a:p>
            <a:pPr>
              <a:defRPr sz="950">
                <a:solidFill>
                  <a:srgbClr val="0F172A"/>
                </a:solidFill>
              </a:defRPr>
            </a:pPr>
            <a:r>
              <a:t>Beyond literal words: transcribing prosody, vocal inflections, sarcasm, medical cough biomarkers, and speaker emotional states.</a:t>
            </a:r>
          </a:p>
          <a:p>
            <a:br/>
            <a:pPr algn="ctr">
              <a:defRPr b="1" sz="1600">
                <a:solidFill>
                  <a:srgbClr val="2563EB"/>
                </a:solidFill>
              </a:defRPr>
            </a:pPr>
            <a:r>
              <a:t>Thank You!  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